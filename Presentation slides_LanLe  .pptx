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25"/>
  </p:notesMasterIdLst>
  <p:sldIdLst>
    <p:sldId id="256" r:id="rId2"/>
    <p:sldId id="277" r:id="rId3"/>
    <p:sldId id="259" r:id="rId4"/>
    <p:sldId id="257" r:id="rId5"/>
    <p:sldId id="258" r:id="rId6"/>
    <p:sldId id="260" r:id="rId7"/>
    <p:sldId id="261" r:id="rId8"/>
    <p:sldId id="262" r:id="rId9"/>
    <p:sldId id="263" r:id="rId10"/>
    <p:sldId id="264" r:id="rId11"/>
    <p:sldId id="268" r:id="rId12"/>
    <p:sldId id="279" r:id="rId13"/>
    <p:sldId id="265" r:id="rId14"/>
    <p:sldId id="269" r:id="rId15"/>
    <p:sldId id="270" r:id="rId16"/>
    <p:sldId id="271" r:id="rId17"/>
    <p:sldId id="267" r:id="rId18"/>
    <p:sldId id="274" r:id="rId19"/>
    <p:sldId id="276" r:id="rId20"/>
    <p:sldId id="278" r:id="rId21"/>
    <p:sldId id="272" r:id="rId22"/>
    <p:sldId id="273"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84"/>
    <p:restoredTop sz="94699"/>
  </p:normalViewPr>
  <p:slideViewPr>
    <p:cSldViewPr snapToGrid="0">
      <p:cViewPr varScale="1">
        <p:scale>
          <a:sx n="88" d="100"/>
          <a:sy n="88" d="100"/>
        </p:scale>
        <p:origin x="208" y="7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307CF5-F4EA-544E-94B0-D295B9C9B473}" type="datetimeFigureOut">
              <a:rPr lang="en-US" smtClean="0"/>
              <a:t>7/29/25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7332AD-D7A3-794A-AFEB-08A6ADA315FB}" type="slidenum">
              <a:rPr lang="en-US" smtClean="0"/>
              <a:t>‹#›</a:t>
            </a:fld>
            <a:endParaRPr lang="en-US"/>
          </a:p>
        </p:txBody>
      </p:sp>
    </p:spTree>
    <p:extLst>
      <p:ext uri="{BB962C8B-B14F-4D97-AF65-F5344CB8AC3E}">
        <p14:creationId xmlns:p14="http://schemas.microsoft.com/office/powerpoint/2010/main" val="2784941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59564A-9452-4C45-8CB5-38807217794B}" type="datetime1">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1432946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623C24-E36E-B748-9620-87D4685F53C5}" type="datetime1">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1199017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50C346-E639-2B48-8B00-7A668CF8DB71}" type="datetime1">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1613473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0318BF-ACC0-1445-B844-48D21343AFD2}" type="datetime1">
              <a:rPr lang="en-US" smtClean="0"/>
              <a:t>7/29/25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1013890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1AF6136-187B-F743-8AF4-7F22BDF9150F}" type="datetime1">
              <a:rPr lang="en-US" smtClean="0"/>
              <a:t>7/29/25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2238498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7CA9C6-97ED-5145-BDAE-EA49C716048F}" type="datetime1">
              <a:rPr lang="en-US" smtClean="0"/>
              <a:t>7/29/25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3026994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768176-4F4C-9540-8DF6-0D0785FA0F4E}" type="datetime1">
              <a:rPr lang="en-US" smtClean="0"/>
              <a:t>7/29/25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316212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6E5CDB-66D7-3645-A293-27256188800F}" type="datetime1">
              <a:rPr lang="en-US" smtClean="0"/>
              <a:t>7/29/25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219545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9DD07E-85E1-E746-BD4B-A98FFF4D7B34}" type="datetime1">
              <a:rPr lang="en-US" smtClean="0"/>
              <a:t>7/29/25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1469103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51C016-5D4B-9F44-AE73-AB700069604F}" type="datetime1">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36228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4550FC-4AA8-DE4B-AA95-C056C76895D3}" type="datetime1">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D543-D9BA-1A48-A5FD-0DD23AC00E9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33568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629130-D81C-4341-94E1-6E4C051306A2}" type="datetime1">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3726919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BBC7D8-1D5E-C945-A22A-6BDB7A75AA17}" type="datetime1">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D543-D9BA-1A48-A5FD-0DD23AC00E9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02084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6168E0-4C2F-DC4A-8E91-14F142884439}" type="datetime1">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25223062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19C501-7249-4C46-B45A-0BA3C5681EA5}" type="datetime1">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8373356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C5D488-C47A-D34E-BF8B-0ECF74358DEB}" type="datetime1">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D543-D9BA-1A48-A5FD-0DD23AC00E9F}" type="slidenum">
              <a:rPr lang="en-US" smtClean="0"/>
              <a:t>‹#›</a:t>
            </a:fld>
            <a:endParaRPr lang="en-US"/>
          </a:p>
        </p:txBody>
      </p:sp>
    </p:spTree>
    <p:extLst>
      <p:ext uri="{BB962C8B-B14F-4D97-AF65-F5344CB8AC3E}">
        <p14:creationId xmlns:p14="http://schemas.microsoft.com/office/powerpoint/2010/main" val="1715304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A3D12C9-9AC6-9B45-B393-66BAA818C6F5}" type="datetime1">
              <a:rPr lang="en-US" smtClean="0"/>
              <a:t>7/29/25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007D543-D9BA-1A48-A5FD-0DD23AC00E9F}" type="slidenum">
              <a:rPr lang="en-US" smtClean="0"/>
              <a:t>‹#›</a:t>
            </a:fld>
            <a:endParaRPr lang="en-US"/>
          </a:p>
        </p:txBody>
      </p:sp>
    </p:spTree>
    <p:extLst>
      <p:ext uri="{BB962C8B-B14F-4D97-AF65-F5344CB8AC3E}">
        <p14:creationId xmlns:p14="http://schemas.microsoft.com/office/powerpoint/2010/main" val="283878816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5.xml"/><Relationship Id="rId18"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14.xml"/><Relationship Id="rId17" Type="http://schemas.openxmlformats.org/officeDocument/2006/relationships/slide" Target="slide19.xml"/><Relationship Id="rId2" Type="http://schemas.openxmlformats.org/officeDocument/2006/relationships/slide" Target="slide4.xml"/><Relationship Id="rId16" Type="http://schemas.openxmlformats.org/officeDocument/2006/relationships/slide" Target="slide18.xml"/><Relationship Id="rId20" Type="http://schemas.openxmlformats.org/officeDocument/2006/relationships/slide" Target="slide23.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3.xml"/><Relationship Id="rId5" Type="http://schemas.openxmlformats.org/officeDocument/2006/relationships/slide" Target="slide6.xml"/><Relationship Id="rId15" Type="http://schemas.openxmlformats.org/officeDocument/2006/relationships/slide" Target="slide17.xml"/><Relationship Id="rId10" Type="http://schemas.openxmlformats.org/officeDocument/2006/relationships/slide" Target="slide11.xml"/><Relationship Id="rId19" Type="http://schemas.openxmlformats.org/officeDocument/2006/relationships/slide" Target="slide22.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F825-2E6F-6E15-6985-B7C348EE6754}"/>
              </a:ext>
            </a:extLst>
          </p:cNvPr>
          <p:cNvSpPr>
            <a:spLocks noGrp="1"/>
          </p:cNvSpPr>
          <p:nvPr>
            <p:ph type="ctrTitle"/>
          </p:nvPr>
        </p:nvSpPr>
        <p:spPr>
          <a:xfrm>
            <a:off x="850263" y="0"/>
            <a:ext cx="9014348" cy="3202730"/>
          </a:xfrm>
        </p:spPr>
        <p:txBody>
          <a:bodyPr anchor="b">
            <a:normAutofit fontScale="90000"/>
          </a:bodyPr>
          <a:lstStyle/>
          <a:p>
            <a:pPr algn="l"/>
            <a:r>
              <a:rPr lang="en-US" dirty="0"/>
              <a:t>Automation System Testing using Selenium Cucumber and AWS CI/CD Implementation</a:t>
            </a:r>
            <a:br>
              <a:rPr lang="en-US" dirty="0"/>
            </a:br>
            <a:endParaRPr lang="en-US" sz="4800" dirty="0"/>
          </a:p>
        </p:txBody>
      </p:sp>
      <p:sp>
        <p:nvSpPr>
          <p:cNvPr id="3" name="Subtitle 2">
            <a:extLst>
              <a:ext uri="{FF2B5EF4-FFF2-40B4-BE49-F238E27FC236}">
                <a16:creationId xmlns:a16="http://schemas.microsoft.com/office/drawing/2014/main" id="{71F32098-AE82-4C77-5C05-E13C7E475926}"/>
              </a:ext>
            </a:extLst>
          </p:cNvPr>
          <p:cNvSpPr>
            <a:spLocks noGrp="1"/>
          </p:cNvSpPr>
          <p:nvPr>
            <p:ph type="subTitle" idx="1"/>
          </p:nvPr>
        </p:nvSpPr>
        <p:spPr>
          <a:xfrm>
            <a:off x="1039833" y="5483737"/>
            <a:ext cx="6387155" cy="1078173"/>
          </a:xfrm>
        </p:spPr>
        <p:txBody>
          <a:bodyPr anchor="ctr">
            <a:normAutofit/>
          </a:bodyPr>
          <a:lstStyle/>
          <a:p>
            <a:pPr algn="l"/>
            <a:r>
              <a:rPr lang="en-US" dirty="0"/>
              <a:t>Student: Lê Thuý Lan (LANLTFX01326) </a:t>
            </a:r>
          </a:p>
          <a:p>
            <a:pPr algn="l"/>
            <a:r>
              <a:rPr lang="en-US" dirty="0"/>
              <a:t>Instructor: Lương Trung Kiên</a:t>
            </a:r>
            <a:endParaRPr lang="en-US" dirty="0">
              <a:solidFill>
                <a:srgbClr val="FFFFFF"/>
              </a:solidFill>
            </a:endParaRPr>
          </a:p>
        </p:txBody>
      </p:sp>
      <p:sp>
        <p:nvSpPr>
          <p:cNvPr id="4" name="Slide Number Placeholder 3">
            <a:extLst>
              <a:ext uri="{FF2B5EF4-FFF2-40B4-BE49-F238E27FC236}">
                <a16:creationId xmlns:a16="http://schemas.microsoft.com/office/drawing/2014/main" id="{56126536-FEEC-EEDD-078A-864E2473818B}"/>
              </a:ext>
            </a:extLst>
          </p:cNvPr>
          <p:cNvSpPr>
            <a:spLocks noGrp="1"/>
          </p:cNvSpPr>
          <p:nvPr>
            <p:ph type="sldNum" sz="quarter" idx="12"/>
          </p:nvPr>
        </p:nvSpPr>
        <p:spPr/>
        <p:txBody>
          <a:bodyPr/>
          <a:lstStyle/>
          <a:p>
            <a:fld id="{4007D543-D9BA-1A48-A5FD-0DD23AC00E9F}" type="slidenum">
              <a:rPr lang="en-US" sz="2400" smtClean="0"/>
              <a:t>1</a:t>
            </a:fld>
            <a:endParaRPr lang="en-US" sz="2400" dirty="0"/>
          </a:p>
        </p:txBody>
      </p:sp>
    </p:spTree>
    <p:extLst>
      <p:ext uri="{BB962C8B-B14F-4D97-AF65-F5344CB8AC3E}">
        <p14:creationId xmlns:p14="http://schemas.microsoft.com/office/powerpoint/2010/main" val="403943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80CAC-6733-5F17-2600-38EC7B573FC0}"/>
              </a:ext>
            </a:extLst>
          </p:cNvPr>
          <p:cNvSpPr>
            <a:spLocks noGrp="1"/>
          </p:cNvSpPr>
          <p:nvPr>
            <p:ph type="title"/>
          </p:nvPr>
        </p:nvSpPr>
        <p:spPr>
          <a:xfrm>
            <a:off x="0" y="0"/>
            <a:ext cx="1970314" cy="718457"/>
          </a:xfrm>
        </p:spPr>
        <p:txBody>
          <a:bodyPr>
            <a:normAutofit/>
          </a:bodyPr>
          <a:lstStyle/>
          <a:p>
            <a:r>
              <a:rPr lang="en-US" sz="2800" b="1" dirty="0"/>
              <a:t>Contents</a:t>
            </a:r>
          </a:p>
        </p:txBody>
      </p:sp>
      <p:sp>
        <p:nvSpPr>
          <p:cNvPr id="3" name="Content Placeholder 2">
            <a:extLst>
              <a:ext uri="{FF2B5EF4-FFF2-40B4-BE49-F238E27FC236}">
                <a16:creationId xmlns:a16="http://schemas.microsoft.com/office/drawing/2014/main" id="{280173A5-FB8F-36CB-771C-9D27BAD4AC6E}"/>
              </a:ext>
            </a:extLst>
          </p:cNvPr>
          <p:cNvSpPr>
            <a:spLocks noGrp="1"/>
          </p:cNvSpPr>
          <p:nvPr>
            <p:ph idx="1"/>
          </p:nvPr>
        </p:nvSpPr>
        <p:spPr>
          <a:xfrm>
            <a:off x="111277" y="451512"/>
            <a:ext cx="8749694" cy="6243201"/>
          </a:xfrm>
        </p:spPr>
        <p:txBody>
          <a:bodyPr>
            <a:normAutofit/>
          </a:bodyPr>
          <a:lstStyle/>
          <a:p>
            <a:pPr marL="306900" indent="-306900">
              <a:spcBef>
                <a:spcPts val="0"/>
              </a:spcBef>
              <a:spcAft>
                <a:spcPts val="200"/>
              </a:spcAft>
            </a:pPr>
            <a:r>
              <a:rPr lang="en-US" dirty="0">
                <a:hlinkClick r:id="rId2" action="ppaction://hlinksldjump"/>
              </a:rPr>
              <a:t>Report</a:t>
            </a:r>
            <a:r>
              <a:rPr lang="en-US" dirty="0">
                <a:hlinkClick r:id="rId3" action="ppaction://hlinksldjump"/>
              </a:rPr>
              <a:t> 1 </a:t>
            </a:r>
            <a:r>
              <a:rPr lang="en-US" dirty="0">
                <a:hlinkClick r:id="rId2" action="ppaction://hlinksldjump"/>
              </a:rPr>
              <a:t>Introduction</a:t>
            </a:r>
            <a:endParaRPr lang="en-US" dirty="0"/>
          </a:p>
          <a:p>
            <a:pPr marL="306900" indent="-306900">
              <a:spcBef>
                <a:spcPts val="0"/>
              </a:spcBef>
              <a:spcAft>
                <a:spcPts val="200"/>
              </a:spcAft>
            </a:pPr>
            <a:r>
              <a:rPr lang="en-US" dirty="0">
                <a:hlinkClick r:id="rId3" action="ppaction://hlinksldjump"/>
              </a:rPr>
              <a:t>Report 1: Comparison</a:t>
            </a:r>
            <a:endParaRPr lang="en-US" dirty="0"/>
          </a:p>
          <a:p>
            <a:pPr marL="306900" indent="-306900">
              <a:spcBef>
                <a:spcPts val="0"/>
              </a:spcBef>
              <a:spcAft>
                <a:spcPts val="200"/>
              </a:spcAft>
            </a:pPr>
            <a:r>
              <a:rPr lang="en-US" dirty="0">
                <a:hlinkClick r:id="rId4" action="ppaction://hlinksldjump"/>
              </a:rPr>
              <a:t>Report 1: Context Diagram</a:t>
            </a:r>
            <a:endParaRPr lang="en-US" dirty="0"/>
          </a:p>
          <a:p>
            <a:pPr marL="306900" indent="-306900">
              <a:spcBef>
                <a:spcPts val="0"/>
              </a:spcBef>
              <a:spcAft>
                <a:spcPts val="200"/>
              </a:spcAft>
            </a:pPr>
            <a:r>
              <a:rPr lang="en-US" dirty="0">
                <a:hlinkClick r:id="rId5" action="ppaction://hlinksldjump"/>
              </a:rPr>
              <a:t>Report 2: Critical Dependencies and risks</a:t>
            </a:r>
            <a:endParaRPr lang="en-US" dirty="0"/>
          </a:p>
          <a:p>
            <a:pPr marL="306900" indent="-306900">
              <a:spcBef>
                <a:spcPts val="0"/>
              </a:spcBef>
              <a:spcAft>
                <a:spcPts val="200"/>
              </a:spcAft>
            </a:pPr>
            <a:r>
              <a:rPr lang="en-US" dirty="0">
                <a:hlinkClick r:id="rId6" action="ppaction://hlinksldjump"/>
              </a:rPr>
              <a:t>Report 2: Software Development model</a:t>
            </a:r>
            <a:endParaRPr lang="en-US" dirty="0"/>
          </a:p>
          <a:p>
            <a:pPr marL="306900" indent="-306900">
              <a:spcBef>
                <a:spcPts val="0"/>
              </a:spcBef>
              <a:spcAft>
                <a:spcPts val="200"/>
              </a:spcAft>
            </a:pPr>
            <a:r>
              <a:rPr lang="en-US" dirty="0">
                <a:hlinkClick r:id="rId7" action="ppaction://hlinksldjump"/>
              </a:rPr>
              <a:t>Report 2: Project Milestones and deliverables</a:t>
            </a:r>
            <a:endParaRPr lang="en-US" dirty="0"/>
          </a:p>
          <a:p>
            <a:pPr marL="306900" indent="-306900">
              <a:spcBef>
                <a:spcPts val="0"/>
              </a:spcBef>
              <a:spcAft>
                <a:spcPts val="200"/>
              </a:spcAft>
            </a:pPr>
            <a:r>
              <a:rPr lang="en-US" dirty="0">
                <a:hlinkClick r:id="rId8" action="ppaction://hlinksldjump"/>
              </a:rPr>
              <a:t>Report 2: Project Scope</a:t>
            </a:r>
            <a:endParaRPr lang="en-US" dirty="0"/>
          </a:p>
          <a:p>
            <a:pPr marL="306900" indent="-306900">
              <a:spcBef>
                <a:spcPts val="0"/>
              </a:spcBef>
              <a:spcAft>
                <a:spcPts val="200"/>
              </a:spcAft>
            </a:pPr>
            <a:r>
              <a:rPr lang="en-US" dirty="0">
                <a:hlinkClick r:id="rId9" action="ppaction://hlinksldjump"/>
              </a:rPr>
              <a:t>Report 3: Software Specific Requirements  CI/CD</a:t>
            </a:r>
            <a:endParaRPr lang="en-US" dirty="0"/>
          </a:p>
          <a:p>
            <a:pPr marL="306900" indent="-306900">
              <a:spcBef>
                <a:spcPts val="0"/>
              </a:spcBef>
              <a:spcAft>
                <a:spcPts val="200"/>
              </a:spcAft>
            </a:pPr>
            <a:r>
              <a:rPr lang="en-US" dirty="0">
                <a:hlinkClick r:id="rId10" action="ppaction://hlinksldjump"/>
              </a:rPr>
              <a:t>Report 3: Software Specific Requirements – Automation use case example</a:t>
            </a:r>
            <a:endParaRPr lang="en-US" dirty="0"/>
          </a:p>
          <a:p>
            <a:pPr marL="306900" indent="-306900">
              <a:spcBef>
                <a:spcPts val="0"/>
              </a:spcBef>
              <a:spcAft>
                <a:spcPts val="200"/>
              </a:spcAft>
            </a:pPr>
            <a:r>
              <a:rPr lang="en-US" dirty="0">
                <a:hlinkClick r:id="rId11" action="ppaction://hlinksldjump"/>
              </a:rPr>
              <a:t>Report 4: Component Diagram (AWS)</a:t>
            </a:r>
            <a:endParaRPr lang="en-US" dirty="0"/>
          </a:p>
          <a:p>
            <a:pPr marL="306900" indent="-306900">
              <a:spcBef>
                <a:spcPts val="0"/>
              </a:spcBef>
              <a:spcAft>
                <a:spcPts val="200"/>
              </a:spcAft>
            </a:pPr>
            <a:r>
              <a:rPr lang="en-US" dirty="0">
                <a:hlinkClick r:id="rId12" action="ppaction://hlinksldjump"/>
              </a:rPr>
              <a:t>Report 4:  Component Diagram  (Selenium)</a:t>
            </a:r>
            <a:endParaRPr lang="en-US" dirty="0"/>
          </a:p>
          <a:p>
            <a:pPr marL="306900" indent="-306900">
              <a:spcBef>
                <a:spcPts val="0"/>
              </a:spcBef>
              <a:spcAft>
                <a:spcPts val="200"/>
              </a:spcAft>
            </a:pPr>
            <a:r>
              <a:rPr lang="en-US" dirty="0">
                <a:hlinkClick r:id="rId13" action="ppaction://hlinksldjump"/>
              </a:rPr>
              <a:t>Report 4 Sequence Diagram  (Selenium Cucumber)</a:t>
            </a:r>
            <a:endParaRPr lang="en-US" dirty="0"/>
          </a:p>
          <a:p>
            <a:pPr marL="306900" indent="-306900">
              <a:spcBef>
                <a:spcPts val="0"/>
              </a:spcBef>
              <a:spcAft>
                <a:spcPts val="200"/>
              </a:spcAft>
            </a:pPr>
            <a:r>
              <a:rPr lang="en-US" dirty="0">
                <a:hlinkClick r:id="rId14" action="ppaction://hlinksldjump"/>
              </a:rPr>
              <a:t>Report 4: Sequence Diagram</a:t>
            </a:r>
            <a:endParaRPr lang="en-US" dirty="0"/>
          </a:p>
          <a:p>
            <a:pPr marL="306900" indent="-306900">
              <a:spcBef>
                <a:spcPts val="0"/>
              </a:spcBef>
              <a:spcAft>
                <a:spcPts val="200"/>
              </a:spcAft>
            </a:pPr>
            <a:r>
              <a:rPr lang="en-US" dirty="0">
                <a:hlinkClick r:id="rId15" action="ppaction://hlinksldjump"/>
              </a:rPr>
              <a:t>Report 4: AWS detailed resource diagram</a:t>
            </a:r>
            <a:endParaRPr lang="en-US" dirty="0"/>
          </a:p>
          <a:p>
            <a:pPr marL="306900" indent="-306900">
              <a:spcBef>
                <a:spcPts val="0"/>
              </a:spcBef>
              <a:spcAft>
                <a:spcPts val="200"/>
              </a:spcAft>
            </a:pPr>
            <a:r>
              <a:rPr lang="en-US" dirty="0">
                <a:hlinkClick r:id="rId16" action="ppaction://hlinksldjump"/>
              </a:rPr>
              <a:t>Report 5: Test Strategy and acceptance criteria</a:t>
            </a:r>
            <a:endParaRPr lang="en-US" dirty="0"/>
          </a:p>
          <a:p>
            <a:pPr marL="306900" indent="-306900">
              <a:spcBef>
                <a:spcPts val="0"/>
              </a:spcBef>
              <a:spcAft>
                <a:spcPts val="200"/>
              </a:spcAft>
            </a:pPr>
            <a:r>
              <a:rPr lang="en-US" dirty="0">
                <a:hlinkClick r:id="rId17" action="ppaction://hlinksldjump"/>
              </a:rPr>
              <a:t>Report 5: Test Case List – Detailed Test Case</a:t>
            </a:r>
            <a:endParaRPr lang="en-US" dirty="0"/>
          </a:p>
          <a:p>
            <a:pPr marL="306900" indent="-306900">
              <a:spcBef>
                <a:spcPts val="0"/>
              </a:spcBef>
              <a:spcAft>
                <a:spcPts val="200"/>
              </a:spcAft>
            </a:pPr>
            <a:r>
              <a:rPr lang="en-US" dirty="0">
                <a:hlinkClick r:id="rId18" action="ppaction://hlinksldjump"/>
              </a:rPr>
              <a:t>Report 5: Test Report</a:t>
            </a:r>
            <a:endParaRPr lang="en-US" dirty="0"/>
          </a:p>
          <a:p>
            <a:pPr marL="306900" indent="-306900">
              <a:spcBef>
                <a:spcPts val="0"/>
              </a:spcBef>
              <a:spcAft>
                <a:spcPts val="200"/>
              </a:spcAft>
            </a:pPr>
            <a:r>
              <a:rPr lang="en-US" dirty="0">
                <a:hlinkClick r:id="rId19" action="ppaction://hlinksldjump"/>
              </a:rPr>
              <a:t>Report 5: Bug Report Sample</a:t>
            </a:r>
            <a:endParaRPr lang="en-US" dirty="0"/>
          </a:p>
          <a:p>
            <a:pPr marL="306900" indent="-306900">
              <a:spcBef>
                <a:spcPts val="0"/>
              </a:spcBef>
              <a:spcAft>
                <a:spcPts val="200"/>
              </a:spcAft>
            </a:pPr>
            <a:r>
              <a:rPr lang="en-US" dirty="0">
                <a:hlinkClick r:id="rId20" action="ppaction://hlinksldjump"/>
              </a:rPr>
              <a:t>Demo</a:t>
            </a:r>
            <a:endParaRPr lang="en-US" dirty="0"/>
          </a:p>
        </p:txBody>
      </p:sp>
      <p:sp>
        <p:nvSpPr>
          <p:cNvPr id="4" name="Slide Number Placeholder 3">
            <a:extLst>
              <a:ext uri="{FF2B5EF4-FFF2-40B4-BE49-F238E27FC236}">
                <a16:creationId xmlns:a16="http://schemas.microsoft.com/office/drawing/2014/main" id="{A24CBDC4-BCD0-A294-9E6D-C72604B93556}"/>
              </a:ext>
            </a:extLst>
          </p:cNvPr>
          <p:cNvSpPr>
            <a:spLocks noGrp="1"/>
          </p:cNvSpPr>
          <p:nvPr>
            <p:ph type="sldNum" sz="quarter" idx="12"/>
          </p:nvPr>
        </p:nvSpPr>
        <p:spPr/>
        <p:txBody>
          <a:bodyPr/>
          <a:lstStyle/>
          <a:p>
            <a:fld id="{4007D543-D9BA-1A48-A5FD-0DD23AC00E9F}" type="slidenum">
              <a:rPr lang="en-US" sz="2400" smtClean="0"/>
              <a:t>2</a:t>
            </a:fld>
            <a:endParaRPr lang="en-US" sz="2400" dirty="0"/>
          </a:p>
        </p:txBody>
      </p:sp>
    </p:spTree>
    <p:extLst>
      <p:ext uri="{BB962C8B-B14F-4D97-AF65-F5344CB8AC3E}">
        <p14:creationId xmlns:p14="http://schemas.microsoft.com/office/powerpoint/2010/main" val="1040534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24AE7-C8E7-0270-4AD9-5F61607F9B87}"/>
              </a:ext>
            </a:extLst>
          </p:cNvPr>
          <p:cNvSpPr>
            <a:spLocks noGrp="1"/>
          </p:cNvSpPr>
          <p:nvPr>
            <p:ph type="title"/>
          </p:nvPr>
        </p:nvSpPr>
        <p:spPr>
          <a:xfrm>
            <a:off x="86318" y="256478"/>
            <a:ext cx="5678862" cy="4594302"/>
          </a:xfrm>
        </p:spPr>
        <p:txBody>
          <a:bodyPr>
            <a:normAutofit/>
          </a:bodyPr>
          <a:lstStyle/>
          <a:p>
            <a:r>
              <a:rPr lang="en-US" sz="2400" u="sng" dirty="0"/>
              <a:t>Report 1</a:t>
            </a:r>
            <a:r>
              <a:rPr lang="en-US" sz="2400" dirty="0"/>
              <a:t>: Inspiration and comparison</a:t>
            </a:r>
            <a:br>
              <a:rPr lang="en-US" sz="2400" dirty="0"/>
            </a:br>
            <a:br>
              <a:rPr lang="en-US" sz="2400" dirty="0"/>
            </a:br>
            <a:br>
              <a:rPr lang="en-US" sz="2400" dirty="0"/>
            </a:br>
            <a:br>
              <a:rPr lang="en-US" sz="2400" dirty="0"/>
            </a:br>
            <a:br>
              <a:rPr lang="en-US" sz="2400" dirty="0"/>
            </a:br>
            <a:br>
              <a:rPr lang="en-US" sz="2400" dirty="0"/>
            </a:br>
            <a:endParaRPr lang="en-US" sz="2400" dirty="0"/>
          </a:p>
        </p:txBody>
      </p:sp>
      <p:sp>
        <p:nvSpPr>
          <p:cNvPr id="3" name="Content Placeholder 2">
            <a:extLst>
              <a:ext uri="{FF2B5EF4-FFF2-40B4-BE49-F238E27FC236}">
                <a16:creationId xmlns:a16="http://schemas.microsoft.com/office/drawing/2014/main" id="{384081C2-8D3F-58DD-B22A-5E83362A3DE3}"/>
              </a:ext>
            </a:extLst>
          </p:cNvPr>
          <p:cNvSpPr>
            <a:spLocks noGrp="1"/>
          </p:cNvSpPr>
          <p:nvPr>
            <p:ph idx="1"/>
          </p:nvPr>
        </p:nvSpPr>
        <p:spPr>
          <a:xfrm>
            <a:off x="86319" y="972312"/>
            <a:ext cx="4298333" cy="5885687"/>
          </a:xfrm>
        </p:spPr>
        <p:txBody>
          <a:bodyPr>
            <a:normAutofit/>
          </a:bodyPr>
          <a:lstStyle/>
          <a:p>
            <a:endParaRPr lang="en-US" dirty="0"/>
          </a:p>
          <a:p>
            <a:r>
              <a:rPr lang="en-US" dirty="0"/>
              <a:t>Current system:</a:t>
            </a:r>
          </a:p>
          <a:p>
            <a:pPr>
              <a:buFontTx/>
              <a:buChar char="-"/>
            </a:pPr>
            <a:r>
              <a:rPr lang="en-US" dirty="0"/>
              <a:t>System tested manually for a web application called “Online Book Store”. Manual regression testing is performed every release which is time and effort-consuming.</a:t>
            </a:r>
          </a:p>
          <a:p>
            <a:pPr marL="0" indent="0">
              <a:buNone/>
            </a:pPr>
            <a:endParaRPr lang="en-US" dirty="0"/>
          </a:p>
          <a:p>
            <a:pPr>
              <a:buFontTx/>
              <a:buChar char="-"/>
            </a:pPr>
            <a:r>
              <a:rPr lang="en-US" dirty="0"/>
              <a:t>Deployment environment is created and configured manually, the process is implemented manually from .jar file built locally and uploaded to AWS Elastic Bean Stalk, auto deployment is not available </a:t>
            </a:r>
          </a:p>
          <a:p>
            <a:pPr marL="0" indent="0">
              <a:buNone/>
            </a:pPr>
            <a:endParaRPr lang="en-US" dirty="0"/>
          </a:p>
        </p:txBody>
      </p:sp>
      <p:sp>
        <p:nvSpPr>
          <p:cNvPr id="4" name="Slide Number Placeholder 3">
            <a:extLst>
              <a:ext uri="{FF2B5EF4-FFF2-40B4-BE49-F238E27FC236}">
                <a16:creationId xmlns:a16="http://schemas.microsoft.com/office/drawing/2014/main" id="{D26CC64A-D6D0-A52D-27EA-60BEF460D314}"/>
              </a:ext>
            </a:extLst>
          </p:cNvPr>
          <p:cNvSpPr>
            <a:spLocks noGrp="1"/>
          </p:cNvSpPr>
          <p:nvPr>
            <p:ph type="sldNum" sz="quarter" idx="12"/>
          </p:nvPr>
        </p:nvSpPr>
        <p:spPr/>
        <p:txBody>
          <a:bodyPr/>
          <a:lstStyle/>
          <a:p>
            <a:fld id="{4007D543-D9BA-1A48-A5FD-0DD23AC00E9F}" type="slidenum">
              <a:rPr lang="en-US" sz="2400" smtClean="0"/>
              <a:t>3</a:t>
            </a:fld>
            <a:endParaRPr lang="en-US" sz="2400" dirty="0"/>
          </a:p>
        </p:txBody>
      </p:sp>
      <p:pic>
        <p:nvPicPr>
          <p:cNvPr id="5" name="Picture 4">
            <a:extLst>
              <a:ext uri="{FF2B5EF4-FFF2-40B4-BE49-F238E27FC236}">
                <a16:creationId xmlns:a16="http://schemas.microsoft.com/office/drawing/2014/main" id="{AB9D8003-DA98-165B-3BF4-121DA49BDCB7}"/>
              </a:ext>
            </a:extLst>
          </p:cNvPr>
          <p:cNvPicPr>
            <a:picLocks noChangeAspect="1"/>
          </p:cNvPicPr>
          <p:nvPr/>
        </p:nvPicPr>
        <p:blipFill>
          <a:blip r:embed="rId2"/>
          <a:stretch>
            <a:fillRect/>
          </a:stretch>
        </p:blipFill>
        <p:spPr>
          <a:xfrm>
            <a:off x="4384653" y="4440668"/>
            <a:ext cx="7772400" cy="2424306"/>
          </a:xfrm>
          <a:prstGeom prst="rect">
            <a:avLst/>
          </a:prstGeom>
        </p:spPr>
      </p:pic>
      <p:pic>
        <p:nvPicPr>
          <p:cNvPr id="6" name="Picture 5">
            <a:extLst>
              <a:ext uri="{FF2B5EF4-FFF2-40B4-BE49-F238E27FC236}">
                <a16:creationId xmlns:a16="http://schemas.microsoft.com/office/drawing/2014/main" id="{77ACEC51-2F91-D3C0-4F42-6314730D002B}"/>
              </a:ext>
            </a:extLst>
          </p:cNvPr>
          <p:cNvPicPr>
            <a:picLocks noChangeAspect="1"/>
          </p:cNvPicPr>
          <p:nvPr/>
        </p:nvPicPr>
        <p:blipFill>
          <a:blip r:embed="rId3"/>
          <a:stretch>
            <a:fillRect/>
          </a:stretch>
        </p:blipFill>
        <p:spPr>
          <a:xfrm>
            <a:off x="5475480" y="280938"/>
            <a:ext cx="6716519" cy="3148062"/>
          </a:xfrm>
          <a:prstGeom prst="rect">
            <a:avLst/>
          </a:prstGeom>
        </p:spPr>
      </p:pic>
    </p:spTree>
    <p:extLst>
      <p:ext uri="{BB962C8B-B14F-4D97-AF65-F5344CB8AC3E}">
        <p14:creationId xmlns:p14="http://schemas.microsoft.com/office/powerpoint/2010/main" val="688476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DC284-CE18-64CF-CE71-53F0005FB4BA}"/>
              </a:ext>
            </a:extLst>
          </p:cNvPr>
          <p:cNvSpPr>
            <a:spLocks noGrp="1"/>
          </p:cNvSpPr>
          <p:nvPr>
            <p:ph type="title"/>
          </p:nvPr>
        </p:nvSpPr>
        <p:spPr>
          <a:xfrm>
            <a:off x="231285" y="156238"/>
            <a:ext cx="8596668" cy="1320800"/>
          </a:xfrm>
        </p:spPr>
        <p:txBody>
          <a:bodyPr>
            <a:normAutofit/>
          </a:bodyPr>
          <a:lstStyle/>
          <a:p>
            <a:r>
              <a:rPr lang="en-US" sz="2800" u="sng" dirty="0"/>
              <a:t>Report 1</a:t>
            </a:r>
            <a:r>
              <a:rPr lang="en-US" sz="2800" dirty="0"/>
              <a:t>: Introduction </a:t>
            </a:r>
          </a:p>
        </p:txBody>
      </p:sp>
      <p:sp>
        <p:nvSpPr>
          <p:cNvPr id="3" name="Content Placeholder 2">
            <a:extLst>
              <a:ext uri="{FF2B5EF4-FFF2-40B4-BE49-F238E27FC236}">
                <a16:creationId xmlns:a16="http://schemas.microsoft.com/office/drawing/2014/main" id="{61047770-AB17-40A8-8571-B7B79A48FA22}"/>
              </a:ext>
            </a:extLst>
          </p:cNvPr>
          <p:cNvSpPr>
            <a:spLocks noGrp="1"/>
          </p:cNvSpPr>
          <p:nvPr>
            <p:ph idx="1"/>
          </p:nvPr>
        </p:nvSpPr>
        <p:spPr>
          <a:xfrm>
            <a:off x="231285" y="816638"/>
            <a:ext cx="10016685" cy="6041362"/>
          </a:xfrm>
        </p:spPr>
        <p:txBody>
          <a:bodyPr/>
          <a:lstStyle/>
          <a:p>
            <a:r>
              <a:rPr lang="en-US" b="1" dirty="0"/>
              <a:t>CI/CD is very beneficial in software project</a:t>
            </a:r>
          </a:p>
          <a:p>
            <a:pPr marL="0" indent="0">
              <a:buNone/>
            </a:pPr>
            <a:r>
              <a:rPr lang="en-US" dirty="0"/>
              <a:t>+ It reduces manual errors, ensure consistent and repeatable processes in build, test, deploy</a:t>
            </a:r>
          </a:p>
          <a:p>
            <a:pPr marL="0" indent="0">
              <a:buNone/>
            </a:pPr>
            <a:r>
              <a:rPr lang="en-US" dirty="0"/>
              <a:t>+ Early detect bugs, improve quality and confidence</a:t>
            </a:r>
          </a:p>
          <a:p>
            <a:pPr marL="0" indent="0">
              <a:buNone/>
            </a:pPr>
            <a:r>
              <a:rPr lang="en-US" dirty="0"/>
              <a:t>+ Faster release cycles, higher product stability and reliability (frequent automated regression testing, easier rollbacks in case of failure, reduce downtime and deployment-related issues)</a:t>
            </a:r>
          </a:p>
          <a:p>
            <a:pPr marL="0" indent="0">
              <a:buNone/>
            </a:pPr>
            <a:r>
              <a:rPr lang="en-US" dirty="0"/>
              <a:t>+ Better team collaboration</a:t>
            </a:r>
          </a:p>
          <a:p>
            <a:pPr marL="0" indent="0">
              <a:buNone/>
            </a:pPr>
            <a:endParaRPr lang="en-US" dirty="0"/>
          </a:p>
          <a:p>
            <a:r>
              <a:rPr lang="en-US" b="1" dirty="0"/>
              <a:t>Automation testing plays important role in software project</a:t>
            </a:r>
          </a:p>
          <a:p>
            <a:pPr marL="0" indent="0">
              <a:buNone/>
            </a:pPr>
            <a:r>
              <a:rPr lang="en-US" b="1" dirty="0"/>
              <a:t>+ </a:t>
            </a:r>
            <a:r>
              <a:rPr lang="en-US" dirty="0"/>
              <a:t>Faster testing (than manual testing, support quick feedback during development</a:t>
            </a:r>
          </a:p>
          <a:p>
            <a:pPr marL="0" indent="0">
              <a:buNone/>
            </a:pPr>
            <a:r>
              <a:rPr lang="en-US" dirty="0"/>
              <a:t>+ Repeatability (support regression testing for old functions when developing new functions)</a:t>
            </a:r>
          </a:p>
          <a:p>
            <a:pPr marL="0" indent="0">
              <a:buNone/>
            </a:pPr>
            <a:r>
              <a:rPr lang="en-US" dirty="0"/>
              <a:t>+ Enable CI/CD (a part of CI/CD pipeline)</a:t>
            </a:r>
          </a:p>
          <a:p>
            <a:pPr marL="0" indent="0">
              <a:buNone/>
            </a:pPr>
            <a:r>
              <a:rPr lang="en-US" dirty="0"/>
              <a:t>+ Improve product quality (early bugs detection)</a:t>
            </a:r>
          </a:p>
        </p:txBody>
      </p:sp>
      <p:sp>
        <p:nvSpPr>
          <p:cNvPr id="4" name="Slide Number Placeholder 3">
            <a:extLst>
              <a:ext uri="{FF2B5EF4-FFF2-40B4-BE49-F238E27FC236}">
                <a16:creationId xmlns:a16="http://schemas.microsoft.com/office/drawing/2014/main" id="{3E840314-972B-73A0-5393-CDC10B5C25BA}"/>
              </a:ext>
            </a:extLst>
          </p:cNvPr>
          <p:cNvSpPr>
            <a:spLocks noGrp="1"/>
          </p:cNvSpPr>
          <p:nvPr>
            <p:ph type="sldNum" sz="quarter" idx="12"/>
          </p:nvPr>
        </p:nvSpPr>
        <p:spPr/>
        <p:txBody>
          <a:bodyPr/>
          <a:lstStyle/>
          <a:p>
            <a:fld id="{4007D543-D9BA-1A48-A5FD-0DD23AC00E9F}" type="slidenum">
              <a:rPr lang="en-US" sz="2400" smtClean="0"/>
              <a:t>4</a:t>
            </a:fld>
            <a:endParaRPr lang="en-US" sz="2400" dirty="0"/>
          </a:p>
        </p:txBody>
      </p:sp>
    </p:spTree>
    <p:extLst>
      <p:ext uri="{BB962C8B-B14F-4D97-AF65-F5344CB8AC3E}">
        <p14:creationId xmlns:p14="http://schemas.microsoft.com/office/powerpoint/2010/main" val="79240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A2DE-DB5B-B883-A5E2-633917547725}"/>
              </a:ext>
            </a:extLst>
          </p:cNvPr>
          <p:cNvSpPr>
            <a:spLocks noGrp="1"/>
          </p:cNvSpPr>
          <p:nvPr>
            <p:ph type="title"/>
          </p:nvPr>
        </p:nvSpPr>
        <p:spPr>
          <a:xfrm>
            <a:off x="253588" y="156238"/>
            <a:ext cx="8596668" cy="1320800"/>
          </a:xfrm>
        </p:spPr>
        <p:txBody>
          <a:bodyPr/>
          <a:lstStyle/>
          <a:p>
            <a:endParaRPr lang="en-US"/>
          </a:p>
        </p:txBody>
      </p:sp>
      <p:sp>
        <p:nvSpPr>
          <p:cNvPr id="3" name="Content Placeholder 2">
            <a:extLst>
              <a:ext uri="{FF2B5EF4-FFF2-40B4-BE49-F238E27FC236}">
                <a16:creationId xmlns:a16="http://schemas.microsoft.com/office/drawing/2014/main" id="{7B3C615B-571A-7AEE-FCEC-1DA404ED9B3F}"/>
              </a:ext>
            </a:extLst>
          </p:cNvPr>
          <p:cNvSpPr>
            <a:spLocks noGrp="1"/>
          </p:cNvSpPr>
          <p:nvPr>
            <p:ph idx="1"/>
          </p:nvPr>
        </p:nvSpPr>
        <p:spPr/>
        <p:txBody>
          <a:bodyPr/>
          <a:lstStyle/>
          <a:p>
            <a:endParaRPr lang="en-US"/>
          </a:p>
        </p:txBody>
      </p:sp>
      <p:pic>
        <p:nvPicPr>
          <p:cNvPr id="4" name="Picture 3" descr="A screenshot of a diagram&#10;&#10;Description automatically generated">
            <a:extLst>
              <a:ext uri="{FF2B5EF4-FFF2-40B4-BE49-F238E27FC236}">
                <a16:creationId xmlns:a16="http://schemas.microsoft.com/office/drawing/2014/main" id="{5E2629B6-9CC5-763C-958B-E9B00DCDAFA0}"/>
              </a:ext>
            </a:extLst>
          </p:cNvPr>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587" y="0"/>
            <a:ext cx="10986841" cy="6858000"/>
          </a:xfrm>
          <a:prstGeom prst="rect">
            <a:avLst/>
          </a:prstGeom>
          <a:noFill/>
          <a:ln>
            <a:noFill/>
          </a:ln>
        </p:spPr>
      </p:pic>
      <p:sp>
        <p:nvSpPr>
          <p:cNvPr id="5" name="Slide Number Placeholder 4">
            <a:extLst>
              <a:ext uri="{FF2B5EF4-FFF2-40B4-BE49-F238E27FC236}">
                <a16:creationId xmlns:a16="http://schemas.microsoft.com/office/drawing/2014/main" id="{52D43C2C-43C5-14BB-87D8-9452E7BFD116}"/>
              </a:ext>
            </a:extLst>
          </p:cNvPr>
          <p:cNvSpPr>
            <a:spLocks noGrp="1"/>
          </p:cNvSpPr>
          <p:nvPr>
            <p:ph type="sldNum" sz="quarter" idx="12"/>
          </p:nvPr>
        </p:nvSpPr>
        <p:spPr/>
        <p:txBody>
          <a:bodyPr/>
          <a:lstStyle/>
          <a:p>
            <a:fld id="{4007D543-D9BA-1A48-A5FD-0DD23AC00E9F}" type="slidenum">
              <a:rPr lang="en-US" sz="2400" smtClean="0"/>
              <a:t>5</a:t>
            </a:fld>
            <a:endParaRPr lang="en-US" sz="2400" dirty="0"/>
          </a:p>
        </p:txBody>
      </p:sp>
    </p:spTree>
    <p:extLst>
      <p:ext uri="{BB962C8B-B14F-4D97-AF65-F5344CB8AC3E}">
        <p14:creationId xmlns:p14="http://schemas.microsoft.com/office/powerpoint/2010/main" val="1415547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34BE5-3E35-253A-CE81-564ECBB41F68}"/>
              </a:ext>
            </a:extLst>
          </p:cNvPr>
          <p:cNvSpPr>
            <a:spLocks noGrp="1"/>
          </p:cNvSpPr>
          <p:nvPr>
            <p:ph type="title"/>
          </p:nvPr>
        </p:nvSpPr>
        <p:spPr>
          <a:xfrm>
            <a:off x="0" y="107796"/>
            <a:ext cx="8596668" cy="1320800"/>
          </a:xfrm>
        </p:spPr>
        <p:txBody>
          <a:bodyPr>
            <a:normAutofit/>
          </a:bodyPr>
          <a:lstStyle/>
          <a:p>
            <a:r>
              <a:rPr lang="en-US" sz="2400" b="1" u="sng" cap="small" dirty="0"/>
              <a:t>Report 2</a:t>
            </a:r>
            <a:r>
              <a:rPr lang="en-US" sz="2400" b="1" cap="small" dirty="0"/>
              <a:t>: Critical Dependencies and risks</a:t>
            </a:r>
            <a:br>
              <a:rPr lang="en-US" sz="2400" b="1" cap="small" dirty="0"/>
            </a:br>
            <a:endParaRPr lang="en-US" sz="2400" dirty="0"/>
          </a:p>
        </p:txBody>
      </p:sp>
      <p:graphicFrame>
        <p:nvGraphicFramePr>
          <p:cNvPr id="5" name="Content Placeholder 4">
            <a:extLst>
              <a:ext uri="{FF2B5EF4-FFF2-40B4-BE49-F238E27FC236}">
                <a16:creationId xmlns:a16="http://schemas.microsoft.com/office/drawing/2014/main" id="{35F5F322-0F14-5993-FB64-92702FAB8404}"/>
              </a:ext>
            </a:extLst>
          </p:cNvPr>
          <p:cNvGraphicFramePr>
            <a:graphicFrameLocks noGrp="1"/>
          </p:cNvGraphicFramePr>
          <p:nvPr>
            <p:ph idx="1"/>
            <p:extLst>
              <p:ext uri="{D42A27DB-BD31-4B8C-83A1-F6EECF244321}">
                <p14:modId xmlns:p14="http://schemas.microsoft.com/office/powerpoint/2010/main" val="2321598588"/>
              </p:ext>
            </p:extLst>
          </p:nvPr>
        </p:nvGraphicFramePr>
        <p:xfrm>
          <a:off x="253586" y="937942"/>
          <a:ext cx="6102609" cy="2173249"/>
        </p:xfrm>
        <a:graphic>
          <a:graphicData uri="http://schemas.openxmlformats.org/drawingml/2006/table">
            <a:tbl>
              <a:tblPr firstRow="1" firstCol="1" bandRow="1">
                <a:tableStyleId>{5C22544A-7EE6-4342-B048-85BDC9FD1C3A}</a:tableStyleId>
              </a:tblPr>
              <a:tblGrid>
                <a:gridCol w="576610">
                  <a:extLst>
                    <a:ext uri="{9D8B030D-6E8A-4147-A177-3AD203B41FA5}">
                      <a16:colId xmlns:a16="http://schemas.microsoft.com/office/drawing/2014/main" val="1782143187"/>
                    </a:ext>
                  </a:extLst>
                </a:gridCol>
                <a:gridCol w="3711809">
                  <a:extLst>
                    <a:ext uri="{9D8B030D-6E8A-4147-A177-3AD203B41FA5}">
                      <a16:colId xmlns:a16="http://schemas.microsoft.com/office/drawing/2014/main" val="1455941654"/>
                    </a:ext>
                  </a:extLst>
                </a:gridCol>
                <a:gridCol w="1814190">
                  <a:extLst>
                    <a:ext uri="{9D8B030D-6E8A-4147-A177-3AD203B41FA5}">
                      <a16:colId xmlns:a16="http://schemas.microsoft.com/office/drawing/2014/main" val="2147682091"/>
                    </a:ext>
                  </a:extLst>
                </a:gridCol>
              </a:tblGrid>
              <a:tr h="603838">
                <a:tc>
                  <a:txBody>
                    <a:bodyPr/>
                    <a:lstStyle/>
                    <a:p>
                      <a:pPr algn="ctr">
                        <a:lnSpc>
                          <a:spcPct val="115000"/>
                        </a:lnSpc>
                        <a:spcBef>
                          <a:spcPts val="1200"/>
                        </a:spcBef>
                        <a:spcAft>
                          <a:spcPts val="1000"/>
                        </a:spcAft>
                        <a:buNone/>
                      </a:pPr>
                      <a:r>
                        <a:rPr lang="en-US" sz="1200" dirty="0">
                          <a:effectLst/>
                        </a:rPr>
                        <a:t>Nox</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Bef>
                          <a:spcPts val="1200"/>
                        </a:spcBef>
                        <a:spcAft>
                          <a:spcPts val="1000"/>
                        </a:spcAft>
                        <a:buNone/>
                      </a:pPr>
                      <a:r>
                        <a:rPr lang="en-US" sz="1200" dirty="0">
                          <a:effectLst/>
                        </a:rPr>
                        <a:t>Dependency</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Bef>
                          <a:spcPts val="1200"/>
                        </a:spcBef>
                        <a:spcAft>
                          <a:spcPts val="1000"/>
                        </a:spcAft>
                        <a:buNone/>
                      </a:pPr>
                      <a:r>
                        <a:rPr lang="en-US" sz="1200" dirty="0">
                          <a:effectLst/>
                        </a:rPr>
                        <a:t>Expected Delivery Date</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55022653"/>
                  </a:ext>
                </a:extLst>
              </a:tr>
              <a:tr h="523137">
                <a:tc>
                  <a:txBody>
                    <a:bodyPr/>
                    <a:lstStyle/>
                    <a:p>
                      <a:pPr algn="ctr">
                        <a:lnSpc>
                          <a:spcPct val="115000"/>
                        </a:lnSpc>
                        <a:spcBef>
                          <a:spcPts val="1200"/>
                        </a:spcBef>
                        <a:spcAft>
                          <a:spcPts val="1000"/>
                        </a:spcAft>
                        <a:buNone/>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a:effectLst/>
                        </a:rPr>
                        <a:t>Test server is setup to run automated system test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dirty="0">
                          <a:effectLst/>
                        </a:rPr>
                        <a:t>15-Jun-2025</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88880371"/>
                  </a:ext>
                </a:extLst>
              </a:tr>
              <a:tr h="523137">
                <a:tc>
                  <a:txBody>
                    <a:bodyPr/>
                    <a:lstStyle/>
                    <a:p>
                      <a:pPr algn="ctr">
                        <a:lnSpc>
                          <a:spcPct val="115000"/>
                        </a:lnSpc>
                        <a:spcBef>
                          <a:spcPts val="1200"/>
                        </a:spcBef>
                        <a:spcAft>
                          <a:spcPts val="1000"/>
                        </a:spcAft>
                        <a:buNone/>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dirty="0">
                          <a:effectLst/>
                        </a:rPr>
                        <a:t>Production server is set up ready for release deployment as a part of CI/CD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dirty="0">
                          <a:effectLst/>
                        </a:rPr>
                        <a:t>30-Jun-2025</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912982"/>
                  </a:ext>
                </a:extLst>
              </a:tr>
              <a:tr h="523137">
                <a:tc>
                  <a:txBody>
                    <a:bodyPr/>
                    <a:lstStyle/>
                    <a:p>
                      <a:pPr algn="ctr">
                        <a:lnSpc>
                          <a:spcPct val="115000"/>
                        </a:lnSpc>
                        <a:spcBef>
                          <a:spcPts val="1200"/>
                        </a:spcBef>
                        <a:spcAft>
                          <a:spcPts val="1000"/>
                        </a:spcAft>
                        <a:buNone/>
                      </a:pPr>
                      <a:r>
                        <a:rPr lang="en-US" sz="12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a:effectLst/>
                        </a:rPr>
                        <a:t>Manual test suite for online bookstore is ready for automation development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dirty="0">
                          <a:effectLst/>
                        </a:rPr>
                        <a:t>13-Apr-2025</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98739189"/>
                  </a:ext>
                </a:extLst>
              </a:tr>
            </a:tbl>
          </a:graphicData>
        </a:graphic>
      </p:graphicFrame>
      <p:graphicFrame>
        <p:nvGraphicFramePr>
          <p:cNvPr id="6" name="Table 5">
            <a:extLst>
              <a:ext uri="{FF2B5EF4-FFF2-40B4-BE49-F238E27FC236}">
                <a16:creationId xmlns:a16="http://schemas.microsoft.com/office/drawing/2014/main" id="{171835F6-8ACD-620E-1978-75DD13E30064}"/>
              </a:ext>
            </a:extLst>
          </p:cNvPr>
          <p:cNvGraphicFramePr>
            <a:graphicFrameLocks noGrp="1"/>
          </p:cNvGraphicFramePr>
          <p:nvPr>
            <p:extLst>
              <p:ext uri="{D42A27DB-BD31-4B8C-83A1-F6EECF244321}">
                <p14:modId xmlns:p14="http://schemas.microsoft.com/office/powerpoint/2010/main" val="3173024605"/>
              </p:ext>
            </p:extLst>
          </p:nvPr>
        </p:nvGraphicFramePr>
        <p:xfrm>
          <a:off x="819010" y="3358376"/>
          <a:ext cx="6384677" cy="3499624"/>
        </p:xfrm>
        <a:graphic>
          <a:graphicData uri="http://schemas.openxmlformats.org/drawingml/2006/table">
            <a:tbl>
              <a:tblPr firstRow="1" firstCol="1" bandRow="1">
                <a:tableStyleId>{5C22544A-7EE6-4342-B048-85BDC9FD1C3A}</a:tableStyleId>
              </a:tblPr>
              <a:tblGrid>
                <a:gridCol w="455525">
                  <a:extLst>
                    <a:ext uri="{9D8B030D-6E8A-4147-A177-3AD203B41FA5}">
                      <a16:colId xmlns:a16="http://schemas.microsoft.com/office/drawing/2014/main" val="2457923228"/>
                    </a:ext>
                  </a:extLst>
                </a:gridCol>
                <a:gridCol w="2932352">
                  <a:extLst>
                    <a:ext uri="{9D8B030D-6E8A-4147-A177-3AD203B41FA5}">
                      <a16:colId xmlns:a16="http://schemas.microsoft.com/office/drawing/2014/main" val="1764296177"/>
                    </a:ext>
                  </a:extLst>
                </a:gridCol>
                <a:gridCol w="1433220">
                  <a:extLst>
                    <a:ext uri="{9D8B030D-6E8A-4147-A177-3AD203B41FA5}">
                      <a16:colId xmlns:a16="http://schemas.microsoft.com/office/drawing/2014/main" val="803863655"/>
                    </a:ext>
                  </a:extLst>
                </a:gridCol>
                <a:gridCol w="1563580">
                  <a:extLst>
                    <a:ext uri="{9D8B030D-6E8A-4147-A177-3AD203B41FA5}">
                      <a16:colId xmlns:a16="http://schemas.microsoft.com/office/drawing/2014/main" val="2297853553"/>
                    </a:ext>
                  </a:extLst>
                </a:gridCol>
              </a:tblGrid>
              <a:tr h="596627">
                <a:tc>
                  <a:txBody>
                    <a:bodyPr/>
                    <a:lstStyle/>
                    <a:p>
                      <a:pPr algn="ctr">
                        <a:lnSpc>
                          <a:spcPct val="115000"/>
                        </a:lnSpc>
                        <a:spcBef>
                          <a:spcPts val="1200"/>
                        </a:spcBef>
                        <a:spcAft>
                          <a:spcPts val="1000"/>
                        </a:spcAft>
                        <a:buNone/>
                      </a:pPr>
                      <a:r>
                        <a:rPr lang="en-US" sz="1200">
                          <a:effectLst/>
                        </a:rPr>
                        <a:t>No</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Bef>
                          <a:spcPts val="1200"/>
                        </a:spcBef>
                        <a:spcAft>
                          <a:spcPts val="1000"/>
                        </a:spcAft>
                        <a:buNone/>
                      </a:pPr>
                      <a:r>
                        <a:rPr lang="en-US" sz="1200" dirty="0">
                          <a:effectLst/>
                        </a:rPr>
                        <a:t>Risks</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Bef>
                          <a:spcPts val="1200"/>
                        </a:spcBef>
                        <a:spcAft>
                          <a:spcPts val="1000"/>
                        </a:spcAft>
                        <a:buNone/>
                      </a:pPr>
                      <a:r>
                        <a:rPr lang="en-US" sz="1200" dirty="0">
                          <a:effectLst/>
                        </a:rPr>
                        <a:t>Prevention </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Bef>
                          <a:spcPts val="1200"/>
                        </a:spcBef>
                        <a:spcAft>
                          <a:spcPts val="1000"/>
                        </a:spcAft>
                        <a:buNone/>
                      </a:pPr>
                      <a:r>
                        <a:rPr lang="en-US" sz="1200">
                          <a:effectLst/>
                        </a:rPr>
                        <a:t>Remark</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48641647"/>
                  </a:ext>
                </a:extLst>
              </a:tr>
              <a:tr h="1317983">
                <a:tc>
                  <a:txBody>
                    <a:bodyPr/>
                    <a:lstStyle/>
                    <a:p>
                      <a:pPr algn="ctr">
                        <a:lnSpc>
                          <a:spcPct val="115000"/>
                        </a:lnSpc>
                        <a:spcBef>
                          <a:spcPts val="1200"/>
                        </a:spcBef>
                        <a:spcAft>
                          <a:spcPts val="1000"/>
                        </a:spcAft>
                        <a:buNone/>
                      </a:pPr>
                      <a:r>
                        <a:rPr lang="en-US" sz="12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a:effectLst/>
                        </a:rPr>
                        <a:t>AWS server is down (rare but can happen)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a:effectLst/>
                        </a:rPr>
                        <a:t>Deployment in different regions and have fallback mechanism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dirty="0">
                          <a:effectLst/>
                        </a:rPr>
                        <a:t>Accept this risk because that prevention method is costly</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17572090"/>
                  </a:ext>
                </a:extLst>
              </a:tr>
              <a:tr h="1585014">
                <a:tc>
                  <a:txBody>
                    <a:bodyPr/>
                    <a:lstStyle/>
                    <a:p>
                      <a:pPr algn="ctr">
                        <a:lnSpc>
                          <a:spcPct val="115000"/>
                        </a:lnSpc>
                        <a:spcBef>
                          <a:spcPts val="1200"/>
                        </a:spcBef>
                        <a:spcAft>
                          <a:spcPts val="1000"/>
                        </a:spcAft>
                        <a:buNone/>
                      </a:pPr>
                      <a:r>
                        <a:rPr lang="en-US" sz="12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dirty="0">
                          <a:effectLst/>
                        </a:rPr>
                        <a:t>Using Bean stalk for default URL, every time setting up a new environment, there is a new URL. Therefore, automation code also needs to change to target URL to test</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a:effectLst/>
                        </a:rPr>
                        <a:t>Buy a domain to use.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1200"/>
                        </a:spcBef>
                        <a:spcAft>
                          <a:spcPts val="1000"/>
                        </a:spcAft>
                        <a:buNone/>
                      </a:pPr>
                      <a:r>
                        <a:rPr lang="en-US" sz="1200" dirty="0">
                          <a:effectLst/>
                        </a:rPr>
                        <a:t>Accept the risk because this project is using default AWS domain</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90048485"/>
                  </a:ext>
                </a:extLst>
              </a:tr>
            </a:tbl>
          </a:graphicData>
        </a:graphic>
      </p:graphicFrame>
      <p:sp>
        <p:nvSpPr>
          <p:cNvPr id="3" name="Slide Number Placeholder 2">
            <a:extLst>
              <a:ext uri="{FF2B5EF4-FFF2-40B4-BE49-F238E27FC236}">
                <a16:creationId xmlns:a16="http://schemas.microsoft.com/office/drawing/2014/main" id="{59C7F220-858F-9E3F-6993-3A1495849A78}"/>
              </a:ext>
            </a:extLst>
          </p:cNvPr>
          <p:cNvSpPr>
            <a:spLocks noGrp="1"/>
          </p:cNvSpPr>
          <p:nvPr>
            <p:ph type="sldNum" sz="quarter" idx="12"/>
          </p:nvPr>
        </p:nvSpPr>
        <p:spPr/>
        <p:txBody>
          <a:bodyPr/>
          <a:lstStyle/>
          <a:p>
            <a:fld id="{4007D543-D9BA-1A48-A5FD-0DD23AC00E9F}" type="slidenum">
              <a:rPr lang="en-US" sz="2400" smtClean="0"/>
              <a:t>6</a:t>
            </a:fld>
            <a:endParaRPr lang="en-US" sz="2400"/>
          </a:p>
        </p:txBody>
      </p:sp>
      <p:pic>
        <p:nvPicPr>
          <p:cNvPr id="4" name="Picture 3">
            <a:extLst>
              <a:ext uri="{FF2B5EF4-FFF2-40B4-BE49-F238E27FC236}">
                <a16:creationId xmlns:a16="http://schemas.microsoft.com/office/drawing/2014/main" id="{98CF52CF-4943-A6F2-D10D-D8F63D08E4EC}"/>
              </a:ext>
            </a:extLst>
          </p:cNvPr>
          <p:cNvPicPr>
            <a:picLocks noChangeAspect="1"/>
          </p:cNvPicPr>
          <p:nvPr/>
        </p:nvPicPr>
        <p:blipFill>
          <a:blip r:embed="rId2"/>
          <a:stretch>
            <a:fillRect/>
          </a:stretch>
        </p:blipFill>
        <p:spPr>
          <a:xfrm>
            <a:off x="7361663" y="4173505"/>
            <a:ext cx="4596161" cy="1743371"/>
          </a:xfrm>
          <a:prstGeom prst="rect">
            <a:avLst/>
          </a:prstGeom>
        </p:spPr>
      </p:pic>
      <p:pic>
        <p:nvPicPr>
          <p:cNvPr id="8" name="Picture 7">
            <a:extLst>
              <a:ext uri="{FF2B5EF4-FFF2-40B4-BE49-F238E27FC236}">
                <a16:creationId xmlns:a16="http://schemas.microsoft.com/office/drawing/2014/main" id="{906BAC82-594E-5C08-BD89-AAA6C55714AB}"/>
              </a:ext>
            </a:extLst>
          </p:cNvPr>
          <p:cNvPicPr>
            <a:picLocks noChangeAspect="1"/>
          </p:cNvPicPr>
          <p:nvPr/>
        </p:nvPicPr>
        <p:blipFill>
          <a:blip r:embed="rId3"/>
          <a:stretch>
            <a:fillRect/>
          </a:stretch>
        </p:blipFill>
        <p:spPr>
          <a:xfrm>
            <a:off x="6768789" y="1"/>
            <a:ext cx="5210433" cy="3327455"/>
          </a:xfrm>
          <a:prstGeom prst="rect">
            <a:avLst/>
          </a:prstGeom>
        </p:spPr>
      </p:pic>
    </p:spTree>
    <p:extLst>
      <p:ext uri="{BB962C8B-B14F-4D97-AF65-F5344CB8AC3E}">
        <p14:creationId xmlns:p14="http://schemas.microsoft.com/office/powerpoint/2010/main" val="1609163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software engineering&#10;&#10;Description automatically generated">
            <a:extLst>
              <a:ext uri="{FF2B5EF4-FFF2-40B4-BE49-F238E27FC236}">
                <a16:creationId xmlns:a16="http://schemas.microsoft.com/office/drawing/2014/main" id="{234D7DE1-BE54-C472-25CB-A2AD0222874A}"/>
              </a:ext>
            </a:extLst>
          </p:cNvPr>
          <p:cNvPicPr>
            <a:picLocks noChangeAspect="1"/>
          </p:cNvPicPr>
          <p:nvPr/>
        </p:nvPicPr>
        <p:blipFill>
          <a:blip r:embed="rId2"/>
          <a:stretch>
            <a:fillRect/>
          </a:stretch>
        </p:blipFill>
        <p:spPr>
          <a:xfrm>
            <a:off x="7286449" y="109074"/>
            <a:ext cx="4339742" cy="2999089"/>
          </a:xfrm>
          <a:prstGeom prst="rect">
            <a:avLst/>
          </a:prstGeom>
        </p:spPr>
      </p:pic>
      <p:graphicFrame>
        <p:nvGraphicFramePr>
          <p:cNvPr id="8" name="Content Placeholder 7">
            <a:extLst>
              <a:ext uri="{FF2B5EF4-FFF2-40B4-BE49-F238E27FC236}">
                <a16:creationId xmlns:a16="http://schemas.microsoft.com/office/drawing/2014/main" id="{AC26BC3E-A92F-AD4F-9AB3-29F435D176CC}"/>
              </a:ext>
            </a:extLst>
          </p:cNvPr>
          <p:cNvGraphicFramePr>
            <a:graphicFrameLocks noGrp="1"/>
          </p:cNvGraphicFramePr>
          <p:nvPr>
            <p:ph idx="1"/>
            <p:extLst>
              <p:ext uri="{D42A27DB-BD31-4B8C-83A1-F6EECF244321}">
                <p14:modId xmlns:p14="http://schemas.microsoft.com/office/powerpoint/2010/main" val="2149744849"/>
              </p:ext>
            </p:extLst>
          </p:nvPr>
        </p:nvGraphicFramePr>
        <p:xfrm>
          <a:off x="646944" y="3108163"/>
          <a:ext cx="9890958" cy="3749840"/>
        </p:xfrm>
        <a:graphic>
          <a:graphicData uri="http://schemas.openxmlformats.org/drawingml/2006/table">
            <a:tbl>
              <a:tblPr firstRow="1" firstCol="1" bandRow="1">
                <a:tableStyleId>{5C22544A-7EE6-4342-B048-85BDC9FD1C3A}</a:tableStyleId>
              </a:tblPr>
              <a:tblGrid>
                <a:gridCol w="1855074">
                  <a:extLst>
                    <a:ext uri="{9D8B030D-6E8A-4147-A177-3AD203B41FA5}">
                      <a16:colId xmlns:a16="http://schemas.microsoft.com/office/drawing/2014/main" val="3477466474"/>
                    </a:ext>
                  </a:extLst>
                </a:gridCol>
                <a:gridCol w="8035884">
                  <a:extLst>
                    <a:ext uri="{9D8B030D-6E8A-4147-A177-3AD203B41FA5}">
                      <a16:colId xmlns:a16="http://schemas.microsoft.com/office/drawing/2014/main" val="755277713"/>
                    </a:ext>
                  </a:extLst>
                </a:gridCol>
              </a:tblGrid>
              <a:tr h="450166">
                <a:tc>
                  <a:txBody>
                    <a:bodyPr/>
                    <a:lstStyle/>
                    <a:p>
                      <a:pPr>
                        <a:lnSpc>
                          <a:spcPct val="115000"/>
                        </a:lnSpc>
                        <a:spcBef>
                          <a:spcPts val="600"/>
                        </a:spcBef>
                        <a:spcAft>
                          <a:spcPts val="1000"/>
                        </a:spcAft>
                        <a:buNone/>
                      </a:pPr>
                      <a:r>
                        <a:rPr lang="en-US" sz="1200" dirty="0">
                          <a:effectLst/>
                        </a:rPr>
                        <a:t>Requirement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600"/>
                        </a:spcBef>
                        <a:spcAft>
                          <a:spcPts val="1000"/>
                        </a:spcAft>
                        <a:buNone/>
                      </a:pPr>
                      <a:r>
                        <a:rPr lang="en-US" sz="1200" dirty="0">
                          <a:effectLst/>
                        </a:rPr>
                        <a:t>Analyze requirements of the project, the current manual test suite, identify scopes, develop strategy to solve the problem.</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4779065"/>
                  </a:ext>
                </a:extLst>
              </a:tr>
              <a:tr h="719777">
                <a:tc>
                  <a:txBody>
                    <a:bodyPr/>
                    <a:lstStyle/>
                    <a:p>
                      <a:pPr>
                        <a:lnSpc>
                          <a:spcPct val="115000"/>
                        </a:lnSpc>
                        <a:spcBef>
                          <a:spcPts val="600"/>
                        </a:spcBef>
                        <a:spcAft>
                          <a:spcPts val="1000"/>
                        </a:spcAft>
                        <a:buNone/>
                      </a:pPr>
                      <a:r>
                        <a:rPr lang="en-US" sz="1200" dirty="0">
                          <a:effectLst/>
                        </a:rPr>
                        <a:t>Design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600"/>
                        </a:spcBef>
                        <a:spcAft>
                          <a:spcPts val="1000"/>
                        </a:spcAft>
                        <a:buNone/>
                      </a:pPr>
                      <a:r>
                        <a:rPr lang="en-US" sz="1200" dirty="0">
                          <a:effectLst/>
                        </a:rPr>
                        <a:t>Design solution for CI/CD infrastructure </a:t>
                      </a:r>
                    </a:p>
                    <a:p>
                      <a:pPr>
                        <a:lnSpc>
                          <a:spcPct val="115000"/>
                        </a:lnSpc>
                        <a:spcBef>
                          <a:spcPts val="600"/>
                        </a:spcBef>
                        <a:spcAft>
                          <a:spcPts val="1000"/>
                        </a:spcAft>
                        <a:buNone/>
                      </a:pPr>
                      <a:r>
                        <a:rPr lang="en-US" sz="1200" dirty="0">
                          <a:effectLst/>
                        </a:rPr>
                        <a:t>Design contents and solution for automation mechanism.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07142255"/>
                  </a:ext>
                </a:extLst>
              </a:tr>
              <a:tr h="719777">
                <a:tc>
                  <a:txBody>
                    <a:bodyPr/>
                    <a:lstStyle/>
                    <a:p>
                      <a:pPr>
                        <a:lnSpc>
                          <a:spcPct val="115000"/>
                        </a:lnSpc>
                        <a:spcBef>
                          <a:spcPts val="600"/>
                        </a:spcBef>
                        <a:spcAft>
                          <a:spcPts val="1000"/>
                        </a:spcAft>
                        <a:buNone/>
                      </a:pPr>
                      <a:r>
                        <a:rPr lang="en-US" sz="1200" dirty="0">
                          <a:effectLst/>
                        </a:rPr>
                        <a:t>Development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600"/>
                        </a:spcBef>
                        <a:spcAft>
                          <a:spcPts val="1000"/>
                        </a:spcAft>
                        <a:buNone/>
                      </a:pPr>
                      <a:r>
                        <a:rPr lang="en-US" sz="1200" dirty="0">
                          <a:effectLst/>
                        </a:rPr>
                        <a:t>Set up CI/CD resources </a:t>
                      </a:r>
                    </a:p>
                    <a:p>
                      <a:pPr>
                        <a:lnSpc>
                          <a:spcPct val="115000"/>
                        </a:lnSpc>
                        <a:spcBef>
                          <a:spcPts val="600"/>
                        </a:spcBef>
                        <a:spcAft>
                          <a:spcPts val="1000"/>
                        </a:spcAft>
                        <a:buNone/>
                      </a:pPr>
                      <a:r>
                        <a:rPr lang="en-US" sz="1200" dirty="0">
                          <a:effectLst/>
                        </a:rPr>
                        <a:t>Write automation codes</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35962448"/>
                  </a:ext>
                </a:extLst>
              </a:tr>
              <a:tr h="719777">
                <a:tc>
                  <a:txBody>
                    <a:bodyPr/>
                    <a:lstStyle/>
                    <a:p>
                      <a:pPr>
                        <a:lnSpc>
                          <a:spcPct val="115000"/>
                        </a:lnSpc>
                        <a:spcBef>
                          <a:spcPts val="600"/>
                        </a:spcBef>
                        <a:spcAft>
                          <a:spcPts val="1000"/>
                        </a:spcAft>
                        <a:buNone/>
                      </a:pPr>
                      <a:r>
                        <a:rPr lang="en-US" sz="1200">
                          <a:effectLst/>
                        </a:rPr>
                        <a:t>Testing</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600"/>
                        </a:spcBef>
                        <a:spcAft>
                          <a:spcPts val="1000"/>
                        </a:spcAft>
                        <a:buNone/>
                      </a:pPr>
                      <a:r>
                        <a:rPr lang="en-US" sz="1200" dirty="0">
                          <a:effectLst/>
                        </a:rPr>
                        <a:t>Test the implementation of CI/CD system</a:t>
                      </a:r>
                    </a:p>
                    <a:p>
                      <a:pPr>
                        <a:lnSpc>
                          <a:spcPct val="115000"/>
                        </a:lnSpc>
                        <a:spcBef>
                          <a:spcPts val="600"/>
                        </a:spcBef>
                        <a:spcAft>
                          <a:spcPts val="1000"/>
                        </a:spcAft>
                        <a:buNone/>
                      </a:pPr>
                      <a:r>
                        <a:rPr lang="en-US" sz="1200" dirty="0">
                          <a:effectLst/>
                        </a:rPr>
                        <a:t>Execute automation code and retrieve reports</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29710728"/>
                  </a:ext>
                </a:extLst>
              </a:tr>
              <a:tr h="420566">
                <a:tc>
                  <a:txBody>
                    <a:bodyPr/>
                    <a:lstStyle/>
                    <a:p>
                      <a:pPr>
                        <a:lnSpc>
                          <a:spcPct val="115000"/>
                        </a:lnSpc>
                        <a:spcBef>
                          <a:spcPts val="600"/>
                        </a:spcBef>
                        <a:spcAft>
                          <a:spcPts val="1000"/>
                        </a:spcAft>
                        <a:buNone/>
                      </a:pPr>
                      <a:r>
                        <a:rPr lang="en-US" sz="1200">
                          <a:effectLst/>
                        </a:rPr>
                        <a:t>Deployment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Bef>
                          <a:spcPts val="600"/>
                        </a:spcBef>
                        <a:spcAft>
                          <a:spcPts val="1000"/>
                        </a:spcAft>
                        <a:buNone/>
                      </a:pPr>
                      <a:r>
                        <a:rPr lang="en-US" sz="1200" dirty="0">
                          <a:effectLst/>
                        </a:rPr>
                        <a:t>Release to production environment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02317192"/>
                  </a:ext>
                </a:extLst>
              </a:tr>
              <a:tr h="719777">
                <a:tc>
                  <a:txBody>
                    <a:bodyPr/>
                    <a:lstStyle/>
                    <a:p>
                      <a:pPr>
                        <a:lnSpc>
                          <a:spcPct val="115000"/>
                        </a:lnSpc>
                        <a:spcBef>
                          <a:spcPts val="600"/>
                        </a:spcBef>
                        <a:spcAft>
                          <a:spcPts val="1000"/>
                        </a:spcAft>
                        <a:buNone/>
                      </a:pPr>
                      <a:r>
                        <a:rPr lang="en-US" sz="1200">
                          <a:effectLst/>
                        </a:rPr>
                        <a:t>Maintenance</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lvl="0" indent="0" algn="l" defTabSz="457200" rtl="0" eaLnBrk="1" fontAlgn="auto" latinLnBrk="0" hangingPunct="1">
                        <a:lnSpc>
                          <a:spcPct val="115000"/>
                        </a:lnSpc>
                        <a:spcBef>
                          <a:spcPts val="600"/>
                        </a:spcBef>
                        <a:spcAft>
                          <a:spcPts val="1000"/>
                        </a:spcAft>
                        <a:buClrTx/>
                        <a:buSzTx/>
                        <a:buFontTx/>
                        <a:buNone/>
                        <a:tabLst/>
                        <a:defRPr/>
                      </a:pPr>
                      <a:r>
                        <a:rPr lang="en-US" sz="1200" dirty="0">
                          <a:effectLst/>
                        </a:rPr>
                        <a:t>Monitor health check of AWS console via real-time records, Manage monthly costs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Bef>
                          <a:spcPts val="600"/>
                        </a:spcBef>
                        <a:spcAft>
                          <a:spcPts val="1000"/>
                        </a:spcAft>
                        <a:buNone/>
                      </a:pPr>
                      <a:r>
                        <a:rPr lang="en-US" sz="1200" dirty="0">
                          <a:effectLst/>
                        </a:rPr>
                        <a:t>Maintain and enhance, update automation codes </a:t>
                      </a:r>
                    </a:p>
                  </a:txBody>
                  <a:tcPr marL="68580" marR="68580" marT="0" marB="0"/>
                </a:tc>
                <a:extLst>
                  <a:ext uri="{0D108BD9-81ED-4DB2-BD59-A6C34878D82A}">
                    <a16:rowId xmlns:a16="http://schemas.microsoft.com/office/drawing/2014/main" val="3154348940"/>
                  </a:ext>
                </a:extLst>
              </a:tr>
            </a:tbl>
          </a:graphicData>
        </a:graphic>
      </p:graphicFrame>
      <p:sp>
        <p:nvSpPr>
          <p:cNvPr id="2" name="Title 1">
            <a:extLst>
              <a:ext uri="{FF2B5EF4-FFF2-40B4-BE49-F238E27FC236}">
                <a16:creationId xmlns:a16="http://schemas.microsoft.com/office/drawing/2014/main" id="{22DC7702-33C0-D4EA-3575-45EF6A579BA2}"/>
              </a:ext>
            </a:extLst>
          </p:cNvPr>
          <p:cNvSpPr>
            <a:spLocks noGrp="1"/>
          </p:cNvSpPr>
          <p:nvPr>
            <p:ph type="title"/>
          </p:nvPr>
        </p:nvSpPr>
        <p:spPr>
          <a:xfrm>
            <a:off x="0" y="107796"/>
            <a:ext cx="8596668" cy="1320800"/>
          </a:xfrm>
        </p:spPr>
        <p:txBody>
          <a:bodyPr>
            <a:normAutofit/>
          </a:bodyPr>
          <a:lstStyle/>
          <a:p>
            <a:r>
              <a:rPr lang="en-US" sz="3200" b="1" u="sng" cap="small" dirty="0"/>
              <a:t>Report 2</a:t>
            </a:r>
            <a:r>
              <a:rPr lang="en-US" sz="3200" b="1" cap="small" dirty="0"/>
              <a:t>: Software Development model</a:t>
            </a:r>
            <a:br>
              <a:rPr lang="en-US" sz="3200" b="1" cap="small" dirty="0"/>
            </a:br>
            <a:endParaRPr lang="en-US" sz="3200" dirty="0"/>
          </a:p>
        </p:txBody>
      </p:sp>
      <p:sp>
        <p:nvSpPr>
          <p:cNvPr id="3" name="Slide Number Placeholder 2">
            <a:extLst>
              <a:ext uri="{FF2B5EF4-FFF2-40B4-BE49-F238E27FC236}">
                <a16:creationId xmlns:a16="http://schemas.microsoft.com/office/drawing/2014/main" id="{F9CF772E-C2BB-3467-3F9D-44F454418ACF}"/>
              </a:ext>
            </a:extLst>
          </p:cNvPr>
          <p:cNvSpPr>
            <a:spLocks noGrp="1"/>
          </p:cNvSpPr>
          <p:nvPr>
            <p:ph type="sldNum" sz="quarter" idx="12"/>
          </p:nvPr>
        </p:nvSpPr>
        <p:spPr>
          <a:xfrm>
            <a:off x="11072606" y="6008705"/>
            <a:ext cx="683339" cy="365125"/>
          </a:xfrm>
        </p:spPr>
        <p:txBody>
          <a:bodyPr/>
          <a:lstStyle/>
          <a:p>
            <a:fld id="{4007D543-D9BA-1A48-A5FD-0DD23AC00E9F}" type="slidenum">
              <a:rPr lang="en-US" sz="2400" b="1" spc="50" smtClean="0">
                <a:ln w="9525" cmpd="sng">
                  <a:solidFill>
                    <a:schemeClr val="accent1"/>
                  </a:solidFill>
                  <a:prstDash val="solid"/>
                </a:ln>
                <a:solidFill>
                  <a:srgbClr val="70AD47">
                    <a:tint val="1000"/>
                  </a:srgbClr>
                </a:solidFill>
                <a:effectLst>
                  <a:glow rad="38100">
                    <a:schemeClr val="accent1">
                      <a:alpha val="40000"/>
                    </a:schemeClr>
                  </a:glow>
                </a:effectLst>
              </a:rPr>
              <a:t>7</a:t>
            </a:fld>
            <a:endParaRPr lang="en-US" sz="24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1033654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6F03F-2826-0DE3-8F35-92C360A806D0}"/>
              </a:ext>
            </a:extLst>
          </p:cNvPr>
          <p:cNvSpPr>
            <a:spLocks noGrp="1"/>
          </p:cNvSpPr>
          <p:nvPr>
            <p:ph type="title"/>
          </p:nvPr>
        </p:nvSpPr>
        <p:spPr>
          <a:xfrm>
            <a:off x="0" y="0"/>
            <a:ext cx="5452946" cy="468351"/>
          </a:xfrm>
        </p:spPr>
        <p:txBody>
          <a:bodyPr>
            <a:normAutofit/>
          </a:bodyPr>
          <a:lstStyle/>
          <a:p>
            <a:r>
              <a:rPr lang="en-US" sz="2000" b="1" u="sng" dirty="0"/>
              <a:t>Report 2</a:t>
            </a:r>
            <a:r>
              <a:rPr lang="en-US" sz="2000" u="sng" dirty="0"/>
              <a:t>: </a:t>
            </a:r>
            <a:r>
              <a:rPr lang="en-US" sz="2000" dirty="0"/>
              <a:t>Project Milestones and deliverables</a:t>
            </a:r>
          </a:p>
        </p:txBody>
      </p:sp>
      <p:graphicFrame>
        <p:nvGraphicFramePr>
          <p:cNvPr id="4" name="Content Placeholder 3">
            <a:extLst>
              <a:ext uri="{FF2B5EF4-FFF2-40B4-BE49-F238E27FC236}">
                <a16:creationId xmlns:a16="http://schemas.microsoft.com/office/drawing/2014/main" id="{8F870824-237B-F5BA-C7B0-DE9575BC02BF}"/>
              </a:ext>
            </a:extLst>
          </p:cNvPr>
          <p:cNvGraphicFramePr>
            <a:graphicFrameLocks noGrp="1"/>
          </p:cNvGraphicFramePr>
          <p:nvPr>
            <p:ph idx="1"/>
            <p:extLst>
              <p:ext uri="{D42A27DB-BD31-4B8C-83A1-F6EECF244321}">
                <p14:modId xmlns:p14="http://schemas.microsoft.com/office/powerpoint/2010/main" val="485014871"/>
              </p:ext>
            </p:extLst>
          </p:nvPr>
        </p:nvGraphicFramePr>
        <p:xfrm>
          <a:off x="1382752" y="535259"/>
          <a:ext cx="8631044" cy="6321557"/>
        </p:xfrm>
        <a:graphic>
          <a:graphicData uri="http://schemas.openxmlformats.org/drawingml/2006/table">
            <a:tbl>
              <a:tblPr firstRow="1" firstCol="1" bandRow="1">
                <a:tableStyleId>{5C22544A-7EE6-4342-B048-85BDC9FD1C3A}</a:tableStyleId>
              </a:tblPr>
              <a:tblGrid>
                <a:gridCol w="639098">
                  <a:extLst>
                    <a:ext uri="{9D8B030D-6E8A-4147-A177-3AD203B41FA5}">
                      <a16:colId xmlns:a16="http://schemas.microsoft.com/office/drawing/2014/main" val="2830845288"/>
                    </a:ext>
                  </a:extLst>
                </a:gridCol>
                <a:gridCol w="3489285">
                  <a:extLst>
                    <a:ext uri="{9D8B030D-6E8A-4147-A177-3AD203B41FA5}">
                      <a16:colId xmlns:a16="http://schemas.microsoft.com/office/drawing/2014/main" val="1432805638"/>
                    </a:ext>
                  </a:extLst>
                </a:gridCol>
                <a:gridCol w="1182089">
                  <a:extLst>
                    <a:ext uri="{9D8B030D-6E8A-4147-A177-3AD203B41FA5}">
                      <a16:colId xmlns:a16="http://schemas.microsoft.com/office/drawing/2014/main" val="2659241166"/>
                    </a:ext>
                  </a:extLst>
                </a:gridCol>
                <a:gridCol w="3320572">
                  <a:extLst>
                    <a:ext uri="{9D8B030D-6E8A-4147-A177-3AD203B41FA5}">
                      <a16:colId xmlns:a16="http://schemas.microsoft.com/office/drawing/2014/main" val="3160273910"/>
                    </a:ext>
                  </a:extLst>
                </a:gridCol>
              </a:tblGrid>
              <a:tr h="398499">
                <a:tc>
                  <a:txBody>
                    <a:bodyPr/>
                    <a:lstStyle/>
                    <a:p>
                      <a:pPr algn="ctr">
                        <a:lnSpc>
                          <a:spcPct val="115000"/>
                        </a:lnSpc>
                        <a:spcBef>
                          <a:spcPts val="1200"/>
                        </a:spcBef>
                        <a:spcAft>
                          <a:spcPts val="1000"/>
                        </a:spcAft>
                        <a:buNone/>
                      </a:pPr>
                      <a:r>
                        <a:rPr lang="en-US" sz="1200" dirty="0">
                          <a:effectLst/>
                        </a:rPr>
                        <a:t>No</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Stage</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Committed Delivery</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Deliverables Description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1106152278"/>
                  </a:ext>
                </a:extLst>
              </a:tr>
              <a:tr h="192662">
                <a:tc gridSpan="2">
                  <a:txBody>
                    <a:bodyPr/>
                    <a:lstStyle/>
                    <a:p>
                      <a:pPr>
                        <a:lnSpc>
                          <a:spcPct val="115000"/>
                        </a:lnSpc>
                        <a:spcBef>
                          <a:spcPts val="1200"/>
                        </a:spcBef>
                        <a:spcAft>
                          <a:spcPts val="1000"/>
                        </a:spcAft>
                        <a:buNone/>
                      </a:pPr>
                      <a:r>
                        <a:rPr lang="en-US" sz="1200" dirty="0">
                          <a:effectLst/>
                        </a:rPr>
                        <a:t>Initiation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hMerge="1">
                  <a:txBody>
                    <a:bodyPr/>
                    <a:lstStyle/>
                    <a:p>
                      <a:endParaRPr lang="en-US"/>
                    </a:p>
                  </a:txBody>
                  <a:tcPr/>
                </a:tc>
                <a:tc>
                  <a:txBody>
                    <a:bodyPr/>
                    <a:lstStyle/>
                    <a:p>
                      <a:pPr algn="ctr">
                        <a:lnSpc>
                          <a:spcPct val="115000"/>
                        </a:lnSpc>
                        <a:spcBef>
                          <a:spcPts val="1200"/>
                        </a:spcBef>
                        <a:spcAft>
                          <a:spcPts val="1000"/>
                        </a:spcAft>
                        <a:buNone/>
                      </a:pPr>
                      <a:r>
                        <a:rPr lang="en-US" sz="1200">
                          <a:effectLst/>
                        </a:rPr>
                        <a:t> </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Aft>
                          <a:spcPts val="1000"/>
                        </a:spcAft>
                        <a:buNone/>
                      </a:pPr>
                      <a:r>
                        <a:rPr lang="en-US" sz="1200">
                          <a:effectLst/>
                        </a:rPr>
                        <a:t> </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631464183"/>
                  </a:ext>
                </a:extLst>
              </a:tr>
              <a:tr h="671893">
                <a:tc>
                  <a:txBody>
                    <a:bodyPr/>
                    <a:lstStyle/>
                    <a:p>
                      <a:pPr algn="ctr">
                        <a:lnSpc>
                          <a:spcPct val="115000"/>
                        </a:lnSpc>
                        <a:spcBef>
                          <a:spcPts val="1200"/>
                        </a:spcBef>
                        <a:spcAft>
                          <a:spcPts val="1000"/>
                        </a:spcAft>
                        <a:buNone/>
                      </a:pPr>
                      <a:r>
                        <a:rPr lang="en-US" sz="1200" dirty="0">
                          <a:effectLst/>
                        </a:rPr>
                        <a:t>1</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Project registration Initial Project Overview report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     13-Apr-2025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Project registration form</a:t>
                      </a:r>
                    </a:p>
                    <a:p>
                      <a:pPr>
                        <a:lnSpc>
                          <a:spcPct val="115000"/>
                        </a:lnSpc>
                        <a:spcBef>
                          <a:spcPts val="1200"/>
                        </a:spcBef>
                        <a:spcAft>
                          <a:spcPts val="1000"/>
                        </a:spcAft>
                        <a:buNone/>
                      </a:pPr>
                      <a:r>
                        <a:rPr lang="en-US" sz="1200" dirty="0">
                          <a:effectLst/>
                        </a:rPr>
                        <a:t>Report 1: Context report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2506081790"/>
                  </a:ext>
                </a:extLst>
              </a:tr>
              <a:tr h="192662">
                <a:tc gridSpan="2">
                  <a:txBody>
                    <a:bodyPr/>
                    <a:lstStyle/>
                    <a:p>
                      <a:pPr>
                        <a:lnSpc>
                          <a:spcPct val="115000"/>
                        </a:lnSpc>
                        <a:spcBef>
                          <a:spcPts val="1200"/>
                        </a:spcBef>
                        <a:spcAft>
                          <a:spcPts val="1000"/>
                        </a:spcAft>
                        <a:buNone/>
                      </a:pPr>
                      <a:r>
                        <a:rPr lang="en-US" sz="1200" dirty="0">
                          <a:effectLst/>
                        </a:rPr>
                        <a:t>Definition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hMerge="1">
                  <a:txBody>
                    <a:bodyPr/>
                    <a:lstStyle/>
                    <a:p>
                      <a:endParaRPr lang="en-US"/>
                    </a:p>
                  </a:txBody>
                  <a:tcPr/>
                </a:tc>
                <a:tc>
                  <a:txBody>
                    <a:bodyPr/>
                    <a:lstStyle/>
                    <a:p>
                      <a:pPr algn="ctr">
                        <a:lnSpc>
                          <a:spcPct val="115000"/>
                        </a:lnSpc>
                        <a:spcBef>
                          <a:spcPts val="1200"/>
                        </a:spcBef>
                        <a:spcAft>
                          <a:spcPts val="1000"/>
                        </a:spcAft>
                        <a:buNone/>
                      </a:pPr>
                      <a:r>
                        <a:rPr lang="en-US" sz="1200" dirty="0">
                          <a:effectLst/>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Aft>
                          <a:spcPts val="1000"/>
                        </a:spcAft>
                        <a:buNone/>
                      </a:pPr>
                      <a:r>
                        <a:rPr lang="en-US" sz="1200">
                          <a:effectLst/>
                        </a:rPr>
                        <a:t> </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915385727"/>
                  </a:ext>
                </a:extLst>
              </a:tr>
              <a:tr h="671893">
                <a:tc>
                  <a:txBody>
                    <a:bodyPr/>
                    <a:lstStyle/>
                    <a:p>
                      <a:pPr algn="ctr">
                        <a:lnSpc>
                          <a:spcPct val="115000"/>
                        </a:lnSpc>
                        <a:spcBef>
                          <a:spcPts val="1200"/>
                        </a:spcBef>
                        <a:spcAft>
                          <a:spcPts val="1000"/>
                        </a:spcAft>
                        <a:buNone/>
                      </a:pPr>
                      <a:r>
                        <a:rPr lang="en-US" sz="1200" dirty="0">
                          <a:effectLst/>
                        </a:rPr>
                        <a:t>2</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Software Project Management Plan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18-Apr-2025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a:effectLst/>
                        </a:rPr>
                        <a:t>Report 2: Software Project Management Plan</a:t>
                      </a:r>
                    </a:p>
                    <a:p>
                      <a:pPr>
                        <a:lnSpc>
                          <a:spcPct val="115000"/>
                        </a:lnSpc>
                        <a:spcBef>
                          <a:spcPts val="1200"/>
                        </a:spcBef>
                        <a:spcAft>
                          <a:spcPts val="1000"/>
                        </a:spcAft>
                        <a:buNone/>
                      </a:pPr>
                      <a:r>
                        <a:rPr lang="en-US" sz="1200">
                          <a:effectLst/>
                        </a:rPr>
                        <a:t> </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1111544403"/>
                  </a:ext>
                </a:extLst>
              </a:tr>
              <a:tr h="192662">
                <a:tc gridSpan="2">
                  <a:txBody>
                    <a:bodyPr/>
                    <a:lstStyle/>
                    <a:p>
                      <a:pPr>
                        <a:lnSpc>
                          <a:spcPct val="115000"/>
                        </a:lnSpc>
                        <a:spcBef>
                          <a:spcPts val="1200"/>
                        </a:spcBef>
                        <a:spcAft>
                          <a:spcPts val="1000"/>
                        </a:spcAft>
                        <a:buNone/>
                      </a:pPr>
                      <a:r>
                        <a:rPr lang="en-US" sz="1200" dirty="0">
                          <a:effectLst/>
                        </a:rPr>
                        <a:t>Solution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hMerge="1">
                  <a:txBody>
                    <a:bodyPr/>
                    <a:lstStyle/>
                    <a:p>
                      <a:endParaRPr lang="en-US"/>
                    </a:p>
                  </a:txBody>
                  <a:tcPr/>
                </a:tc>
                <a:tc>
                  <a:txBody>
                    <a:bodyPr/>
                    <a:lstStyle/>
                    <a:p>
                      <a:pPr algn="ctr">
                        <a:lnSpc>
                          <a:spcPct val="115000"/>
                        </a:lnSpc>
                        <a:spcBef>
                          <a:spcPts val="1200"/>
                        </a:spcBef>
                        <a:spcAft>
                          <a:spcPts val="1000"/>
                        </a:spcAft>
                        <a:buNone/>
                      </a:pPr>
                      <a:r>
                        <a:rPr lang="en-US" sz="1200" dirty="0">
                          <a:effectLst/>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Aft>
                          <a:spcPts val="1000"/>
                        </a:spcAft>
                        <a:buNone/>
                      </a:pPr>
                      <a:r>
                        <a:rPr lang="en-US" sz="1200">
                          <a:effectLst/>
                        </a:rPr>
                        <a:t> </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76062367"/>
                  </a:ext>
                </a:extLst>
              </a:tr>
              <a:tr h="271108">
                <a:tc>
                  <a:txBody>
                    <a:bodyPr/>
                    <a:lstStyle/>
                    <a:p>
                      <a:pPr algn="ctr">
                        <a:lnSpc>
                          <a:spcPct val="115000"/>
                        </a:lnSpc>
                        <a:spcBef>
                          <a:spcPts val="1200"/>
                        </a:spcBef>
                        <a:spcAft>
                          <a:spcPts val="1000"/>
                        </a:spcAft>
                        <a:buNone/>
                      </a:pPr>
                      <a:r>
                        <a:rPr lang="en-US" sz="1200" dirty="0">
                          <a:effectLst/>
                        </a:rPr>
                        <a:t>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Design Interim release 1</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25-Apr-2025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Report 3: Software Requirement Specifications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3580169874"/>
                  </a:ext>
                </a:extLst>
              </a:tr>
              <a:tr h="348105">
                <a:tc>
                  <a:txBody>
                    <a:bodyPr/>
                    <a:lstStyle/>
                    <a:p>
                      <a:pPr algn="ctr">
                        <a:lnSpc>
                          <a:spcPct val="115000"/>
                        </a:lnSpc>
                        <a:spcBef>
                          <a:spcPts val="1200"/>
                        </a:spcBef>
                        <a:spcAft>
                          <a:spcPts val="1000"/>
                        </a:spcAft>
                        <a:buNone/>
                      </a:pPr>
                      <a:r>
                        <a:rPr lang="en-US" sz="1200" dirty="0">
                          <a:effectLst/>
                        </a:rPr>
                        <a:t>4</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Design Interim release 2</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02-May-2025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Report 4: Project Design Document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3584782311"/>
                  </a:ext>
                </a:extLst>
              </a:tr>
              <a:tr h="200498">
                <a:tc gridSpan="2">
                  <a:txBody>
                    <a:bodyPr/>
                    <a:lstStyle/>
                    <a:p>
                      <a:pPr>
                        <a:lnSpc>
                          <a:spcPct val="115000"/>
                        </a:lnSpc>
                        <a:spcBef>
                          <a:spcPts val="1200"/>
                        </a:spcBef>
                        <a:spcAft>
                          <a:spcPts val="1000"/>
                        </a:spcAft>
                        <a:buNone/>
                      </a:pPr>
                      <a:r>
                        <a:rPr lang="en-US" sz="1200" dirty="0">
                          <a:effectLst/>
                        </a:rPr>
                        <a:t>Construction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hMerge="1">
                  <a:txBody>
                    <a:bodyPr/>
                    <a:lstStyle/>
                    <a:p>
                      <a:endParaRPr lang="en-US"/>
                    </a:p>
                  </a:txBody>
                  <a:tcPr/>
                </a:tc>
                <a:tc>
                  <a:txBody>
                    <a:bodyPr/>
                    <a:lstStyle/>
                    <a:p>
                      <a:pPr algn="ctr">
                        <a:lnSpc>
                          <a:spcPct val="115000"/>
                        </a:lnSpc>
                        <a:spcBef>
                          <a:spcPts val="1200"/>
                        </a:spcBef>
                        <a:spcAft>
                          <a:spcPts val="1000"/>
                        </a:spcAft>
                        <a:buNone/>
                      </a:pPr>
                      <a:r>
                        <a:rPr lang="en-US" sz="1200" dirty="0">
                          <a:effectLst/>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Aft>
                          <a:spcPts val="1000"/>
                        </a:spcAft>
                        <a:buNone/>
                      </a:pPr>
                      <a:r>
                        <a:rPr lang="en-US" sz="1200">
                          <a:effectLst/>
                        </a:rPr>
                        <a:t> </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819987102"/>
                  </a:ext>
                </a:extLst>
              </a:tr>
              <a:tr h="411143">
                <a:tc>
                  <a:txBody>
                    <a:bodyPr/>
                    <a:lstStyle/>
                    <a:p>
                      <a:pPr algn="ctr">
                        <a:lnSpc>
                          <a:spcPct val="115000"/>
                        </a:lnSpc>
                        <a:spcBef>
                          <a:spcPts val="1200"/>
                        </a:spcBef>
                        <a:spcAft>
                          <a:spcPts val="1000"/>
                        </a:spcAft>
                        <a:buNone/>
                      </a:pPr>
                      <a:r>
                        <a:rPr lang="en-US" sz="1200" dirty="0">
                          <a:effectLst/>
                        </a:rPr>
                        <a:t>5</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Construction Interim release 1</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15-June-2025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AWS CI/CD Infrastructure configuration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46976530"/>
                  </a:ext>
                </a:extLst>
              </a:tr>
              <a:tr h="411143">
                <a:tc>
                  <a:txBody>
                    <a:bodyPr/>
                    <a:lstStyle/>
                    <a:p>
                      <a:pPr algn="ctr">
                        <a:lnSpc>
                          <a:spcPct val="115000"/>
                        </a:lnSpc>
                        <a:spcBef>
                          <a:spcPts val="1200"/>
                        </a:spcBef>
                        <a:spcAft>
                          <a:spcPts val="1000"/>
                        </a:spcAft>
                        <a:buNone/>
                      </a:pPr>
                      <a:r>
                        <a:rPr lang="en-US" sz="1200" dirty="0">
                          <a:effectLst/>
                        </a:rPr>
                        <a:t>6</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Construction Interim release 2</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30-June-2025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Automation source codes</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2235038270"/>
                  </a:ext>
                </a:extLst>
              </a:tr>
              <a:tr h="149916">
                <a:tc>
                  <a:txBody>
                    <a:bodyPr/>
                    <a:lstStyle/>
                    <a:p>
                      <a:pPr algn="ctr">
                        <a:lnSpc>
                          <a:spcPct val="115000"/>
                        </a:lnSpc>
                        <a:spcBef>
                          <a:spcPts val="1200"/>
                        </a:spcBef>
                        <a:spcAft>
                          <a:spcPts val="1000"/>
                        </a:spcAft>
                        <a:buNone/>
                      </a:pPr>
                      <a:r>
                        <a:rPr lang="en-US" sz="1200" dirty="0">
                          <a:effectLst/>
                        </a:rPr>
                        <a:t>7</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UAT release</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02-Jul-2025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Deployment to UAT environment </a:t>
                      </a:r>
                    </a:p>
                    <a:p>
                      <a:pPr>
                        <a:lnSpc>
                          <a:spcPct val="115000"/>
                        </a:lnSpc>
                        <a:spcBef>
                          <a:spcPts val="1200"/>
                        </a:spcBef>
                        <a:spcAft>
                          <a:spcPts val="1000"/>
                        </a:spcAft>
                        <a:buNone/>
                      </a:pPr>
                      <a:r>
                        <a:rPr lang="en-US" sz="1200" dirty="0">
                          <a:effectLst/>
                        </a:rPr>
                        <a:t>System</a:t>
                      </a:r>
                      <a:r>
                        <a:rPr lang="vi-VN" sz="1200" dirty="0">
                          <a:effectLst/>
                        </a:rPr>
                        <a:t> test report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2536930957"/>
                  </a:ext>
                </a:extLst>
              </a:tr>
              <a:tr h="192662">
                <a:tc gridSpan="2">
                  <a:txBody>
                    <a:bodyPr/>
                    <a:lstStyle/>
                    <a:p>
                      <a:pPr>
                        <a:lnSpc>
                          <a:spcPct val="115000"/>
                        </a:lnSpc>
                        <a:spcBef>
                          <a:spcPts val="1200"/>
                        </a:spcBef>
                        <a:spcAft>
                          <a:spcPts val="1000"/>
                        </a:spcAft>
                        <a:buNone/>
                      </a:pPr>
                      <a:r>
                        <a:rPr lang="en-US" sz="1200">
                          <a:effectLst/>
                        </a:rPr>
                        <a:t>Transition</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hMerge="1">
                  <a:txBody>
                    <a:bodyPr/>
                    <a:lstStyle/>
                    <a:p>
                      <a:endParaRPr lang="en-US"/>
                    </a:p>
                  </a:txBody>
                  <a:tcPr/>
                </a:tc>
                <a:tc>
                  <a:txBody>
                    <a:bodyPr/>
                    <a:lstStyle/>
                    <a:p>
                      <a:pPr algn="ctr">
                        <a:lnSpc>
                          <a:spcPct val="115000"/>
                        </a:lnSpc>
                        <a:spcBef>
                          <a:spcPts val="1200"/>
                        </a:spcBef>
                        <a:spcAft>
                          <a:spcPts val="1000"/>
                        </a:spcAft>
                        <a:buNone/>
                      </a:pPr>
                      <a:r>
                        <a:rPr lang="en-US" sz="1200" dirty="0">
                          <a:effectLst/>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Aft>
                          <a:spcPts val="1000"/>
                        </a:spcAft>
                        <a:buNone/>
                      </a:pPr>
                      <a:r>
                        <a:rPr lang="en-US" sz="1200" dirty="0">
                          <a:effectLst/>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97757001"/>
                  </a:ext>
                </a:extLst>
              </a:tr>
              <a:tr h="671893">
                <a:tc>
                  <a:txBody>
                    <a:bodyPr/>
                    <a:lstStyle/>
                    <a:p>
                      <a:pPr algn="ctr">
                        <a:lnSpc>
                          <a:spcPct val="115000"/>
                        </a:lnSpc>
                        <a:spcBef>
                          <a:spcPts val="1200"/>
                        </a:spcBef>
                        <a:spcAft>
                          <a:spcPts val="1000"/>
                        </a:spcAft>
                        <a:buNone/>
                      </a:pPr>
                      <a:r>
                        <a:rPr lang="en-US" sz="1200" dirty="0">
                          <a:effectLst/>
                        </a:rPr>
                        <a:t>7</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Final release</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 19-Jul-2025</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Deployment to Production environment </a:t>
                      </a:r>
                    </a:p>
                    <a:p>
                      <a:pPr>
                        <a:lnSpc>
                          <a:spcPct val="115000"/>
                        </a:lnSpc>
                        <a:spcBef>
                          <a:spcPts val="1200"/>
                        </a:spcBef>
                        <a:spcAft>
                          <a:spcPts val="1000"/>
                        </a:spcAft>
                        <a:buNone/>
                      </a:pPr>
                      <a:r>
                        <a:rPr lang="en-US" sz="1200" dirty="0">
                          <a:effectLst/>
                        </a:rPr>
                        <a:t>Project documentation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3376301512"/>
                  </a:ext>
                </a:extLst>
              </a:tr>
              <a:tr h="192662">
                <a:tc gridSpan="2">
                  <a:txBody>
                    <a:bodyPr/>
                    <a:lstStyle/>
                    <a:p>
                      <a:pPr>
                        <a:lnSpc>
                          <a:spcPct val="115000"/>
                        </a:lnSpc>
                        <a:spcBef>
                          <a:spcPts val="1200"/>
                        </a:spcBef>
                        <a:spcAft>
                          <a:spcPts val="1000"/>
                        </a:spcAft>
                        <a:buNone/>
                      </a:pPr>
                      <a:r>
                        <a:rPr lang="en-US" sz="1200" dirty="0">
                          <a:effectLst/>
                        </a:rPr>
                        <a:t>Termination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hMerge="1">
                  <a:txBody>
                    <a:bodyPr/>
                    <a:lstStyle/>
                    <a:p>
                      <a:endParaRPr lang="en-US"/>
                    </a:p>
                  </a:txBody>
                  <a:tcPr/>
                </a:tc>
                <a:tc>
                  <a:txBody>
                    <a:bodyPr/>
                    <a:lstStyle/>
                    <a:p>
                      <a:pPr algn="ctr">
                        <a:lnSpc>
                          <a:spcPct val="115000"/>
                        </a:lnSpc>
                        <a:spcBef>
                          <a:spcPts val="1200"/>
                        </a:spcBef>
                        <a:spcAft>
                          <a:spcPts val="1000"/>
                        </a:spcAft>
                        <a:buNone/>
                      </a:pPr>
                      <a:r>
                        <a:rPr lang="en-US" sz="1200">
                          <a:effectLst/>
                        </a:rPr>
                        <a:t> </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Aft>
                          <a:spcPts val="1000"/>
                        </a:spcAft>
                        <a:buNone/>
                      </a:pPr>
                      <a:r>
                        <a:rPr lang="en-US" sz="1200" dirty="0">
                          <a:effectLst/>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45775445"/>
                  </a:ext>
                </a:extLst>
              </a:tr>
              <a:tr h="271108">
                <a:tc>
                  <a:txBody>
                    <a:bodyPr/>
                    <a:lstStyle/>
                    <a:p>
                      <a:pPr algn="ctr">
                        <a:lnSpc>
                          <a:spcPct val="115000"/>
                        </a:lnSpc>
                        <a:spcBef>
                          <a:spcPts val="1200"/>
                        </a:spcBef>
                        <a:spcAft>
                          <a:spcPts val="1000"/>
                        </a:spcAft>
                        <a:buNone/>
                      </a:pPr>
                      <a:r>
                        <a:rPr lang="en-US" sz="1200" dirty="0">
                          <a:effectLst/>
                        </a:rPr>
                        <a:t>8</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Post-mortem report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a:effectLst/>
                        </a:rPr>
                        <a:t>05-Aug-2025 </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 Final project documents</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2610375232"/>
                  </a:ext>
                </a:extLst>
              </a:tr>
              <a:tr h="271108">
                <a:tc>
                  <a:txBody>
                    <a:bodyPr/>
                    <a:lstStyle/>
                    <a:p>
                      <a:pPr algn="ctr">
                        <a:lnSpc>
                          <a:spcPct val="115000"/>
                        </a:lnSpc>
                        <a:spcBef>
                          <a:spcPts val="1200"/>
                        </a:spcBef>
                        <a:spcAft>
                          <a:spcPts val="1000"/>
                        </a:spcAft>
                        <a:buNone/>
                      </a:pPr>
                      <a:r>
                        <a:rPr lang="en-US" sz="1200" dirty="0">
                          <a:effectLst/>
                        </a:rPr>
                        <a:t>9</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Acceptance notes</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gn="ctr">
                        <a:lnSpc>
                          <a:spcPct val="115000"/>
                        </a:lnSpc>
                        <a:spcBef>
                          <a:spcPts val="1200"/>
                        </a:spcBef>
                        <a:spcAft>
                          <a:spcPts val="1000"/>
                        </a:spcAft>
                        <a:buNone/>
                      </a:pPr>
                      <a:r>
                        <a:rPr lang="en-US" sz="1200" dirty="0">
                          <a:effectLst/>
                        </a:rPr>
                        <a:t>06-Aug-2025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tc>
                  <a:txBody>
                    <a:bodyPr/>
                    <a:lstStyle/>
                    <a:p>
                      <a:pPr>
                        <a:lnSpc>
                          <a:spcPct val="115000"/>
                        </a:lnSpc>
                        <a:spcBef>
                          <a:spcPts val="1200"/>
                        </a:spcBef>
                        <a:spcAft>
                          <a:spcPts val="1000"/>
                        </a:spcAft>
                        <a:buNone/>
                      </a:pPr>
                      <a:r>
                        <a:rPr lang="en-US" sz="1200" dirty="0">
                          <a:effectLst/>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3252" marR="33252" marT="0" marB="0" anchor="ctr"/>
                </a:tc>
                <a:extLst>
                  <a:ext uri="{0D108BD9-81ED-4DB2-BD59-A6C34878D82A}">
                    <a16:rowId xmlns:a16="http://schemas.microsoft.com/office/drawing/2014/main" val="256394733"/>
                  </a:ext>
                </a:extLst>
              </a:tr>
            </a:tbl>
          </a:graphicData>
        </a:graphic>
      </p:graphicFrame>
      <p:sp>
        <p:nvSpPr>
          <p:cNvPr id="3" name="Slide Number Placeholder 2">
            <a:extLst>
              <a:ext uri="{FF2B5EF4-FFF2-40B4-BE49-F238E27FC236}">
                <a16:creationId xmlns:a16="http://schemas.microsoft.com/office/drawing/2014/main" id="{2BC950ED-E1F0-8623-D273-5E0B30EE66E9}"/>
              </a:ext>
            </a:extLst>
          </p:cNvPr>
          <p:cNvSpPr>
            <a:spLocks noGrp="1"/>
          </p:cNvSpPr>
          <p:nvPr>
            <p:ph type="sldNum" sz="quarter" idx="12"/>
          </p:nvPr>
        </p:nvSpPr>
        <p:spPr>
          <a:xfrm>
            <a:off x="11083492" y="6128447"/>
            <a:ext cx="683339" cy="365125"/>
          </a:xfrm>
        </p:spPr>
        <p:txBody>
          <a:bodyPr/>
          <a:lstStyle/>
          <a:p>
            <a:fld id="{4007D543-D9BA-1A48-A5FD-0DD23AC00E9F}" type="slidenum">
              <a:rPr lang="en-US" sz="2400" b="1" spc="50" smtClean="0">
                <a:ln w="9525" cmpd="sng">
                  <a:solidFill>
                    <a:schemeClr val="accent1"/>
                  </a:solidFill>
                  <a:prstDash val="solid"/>
                </a:ln>
                <a:solidFill>
                  <a:srgbClr val="70AD47">
                    <a:tint val="1000"/>
                  </a:srgbClr>
                </a:solidFill>
                <a:effectLst>
                  <a:glow rad="38100">
                    <a:schemeClr val="accent1">
                      <a:alpha val="40000"/>
                    </a:schemeClr>
                  </a:glow>
                </a:effectLst>
              </a:rPr>
              <a:t>8</a:t>
            </a:fld>
            <a:endParaRPr lang="en-US" sz="24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4028566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51D94-7CEA-FA82-34A5-18D8455124C5}"/>
              </a:ext>
            </a:extLst>
          </p:cNvPr>
          <p:cNvSpPr>
            <a:spLocks noGrp="1"/>
          </p:cNvSpPr>
          <p:nvPr>
            <p:ph type="title"/>
          </p:nvPr>
        </p:nvSpPr>
        <p:spPr>
          <a:xfrm>
            <a:off x="164378" y="122663"/>
            <a:ext cx="8596668" cy="780464"/>
          </a:xfrm>
        </p:spPr>
        <p:txBody>
          <a:bodyPr>
            <a:normAutofit/>
          </a:bodyPr>
          <a:lstStyle/>
          <a:p>
            <a:r>
              <a:rPr lang="en-US" sz="2000" b="1" u="sng" dirty="0"/>
              <a:t>Report 2</a:t>
            </a:r>
            <a:r>
              <a:rPr lang="en-US" sz="2000" dirty="0"/>
              <a:t>: Project Scope</a:t>
            </a:r>
          </a:p>
        </p:txBody>
      </p:sp>
      <p:sp>
        <p:nvSpPr>
          <p:cNvPr id="3" name="Content Placeholder 2">
            <a:extLst>
              <a:ext uri="{FF2B5EF4-FFF2-40B4-BE49-F238E27FC236}">
                <a16:creationId xmlns:a16="http://schemas.microsoft.com/office/drawing/2014/main" id="{DF0F452B-9403-EE84-529C-48D87A008D76}"/>
              </a:ext>
            </a:extLst>
          </p:cNvPr>
          <p:cNvSpPr>
            <a:spLocks noGrp="1"/>
          </p:cNvSpPr>
          <p:nvPr>
            <p:ph idx="1"/>
          </p:nvPr>
        </p:nvSpPr>
        <p:spPr>
          <a:xfrm>
            <a:off x="164378" y="735980"/>
            <a:ext cx="11265622" cy="5999357"/>
          </a:xfrm>
        </p:spPr>
        <p:txBody>
          <a:bodyPr>
            <a:normAutofit lnSpcReduction="10000"/>
          </a:bodyPr>
          <a:lstStyle/>
          <a:p>
            <a:r>
              <a:rPr lang="en-US" b="1" dirty="0"/>
              <a:t>Online Bookstore application codes build and deployment</a:t>
            </a:r>
          </a:p>
          <a:p>
            <a:pPr marL="0" indent="0">
              <a:buNone/>
            </a:pPr>
            <a:r>
              <a:rPr lang="en-US" b="1" dirty="0"/>
              <a:t>+ </a:t>
            </a:r>
            <a:r>
              <a:rPr lang="en-US" dirty="0"/>
              <a:t>As a part of CI/CD, when new changes in application codes are deployed to GitHub, AWS shall be notified and pull codes to the AWS repository. </a:t>
            </a:r>
          </a:p>
          <a:p>
            <a:pPr marL="0" indent="0">
              <a:buNone/>
            </a:pPr>
            <a:r>
              <a:rPr lang="en-US" b="1" dirty="0"/>
              <a:t>+ </a:t>
            </a:r>
            <a:r>
              <a:rPr lang="en-US" dirty="0"/>
              <a:t>Codes built from AWS source artifact and executable artifacts are created in AWS repository (.jar)</a:t>
            </a:r>
            <a:endParaRPr lang="en-US" b="1" dirty="0"/>
          </a:p>
          <a:p>
            <a:r>
              <a:rPr lang="en-US" b="1" dirty="0"/>
              <a:t>Automated Regression System Testing implementation</a:t>
            </a:r>
          </a:p>
          <a:p>
            <a:pPr marL="0" lvl="0" indent="0">
              <a:buNone/>
            </a:pPr>
            <a:r>
              <a:rPr lang="en-US" dirty="0"/>
              <a:t>+ Normal user: validate user abilities to navigate to home page to browse details, search for book titles, add books to cart, go to cart and view details, remove from cart, delete all, check out and place order.</a:t>
            </a:r>
          </a:p>
          <a:p>
            <a:pPr marL="0" indent="0">
              <a:buNone/>
            </a:pPr>
            <a:r>
              <a:rPr lang="en-US" dirty="0"/>
              <a:t>+ Admin: validate admin abilities sign in with username/password, view books details, search books, edit details and save, delete books, view order details, log out from Admin orders page, log out.</a:t>
            </a:r>
            <a:endParaRPr lang="en-US" b="1" dirty="0"/>
          </a:p>
          <a:p>
            <a:r>
              <a:rPr lang="en-US" b="1" dirty="0"/>
              <a:t>Complete and Maintain CI/CD pipeline (5 steps) for continuous integration and continuous delivery</a:t>
            </a:r>
          </a:p>
          <a:p>
            <a:pPr marL="0" lvl="0" indent="0">
              <a:buNone/>
            </a:pPr>
            <a:r>
              <a:rPr lang="en-US" dirty="0"/>
              <a:t>+ Pull application and automation source codes from GitHub as source artifacts.</a:t>
            </a:r>
          </a:p>
          <a:p>
            <a:pPr marL="0" lvl="0" indent="0">
              <a:buNone/>
            </a:pPr>
            <a:r>
              <a:rPr lang="en-US" dirty="0"/>
              <a:t>+ From source artifacts, build into executable artifacts</a:t>
            </a:r>
          </a:p>
          <a:p>
            <a:pPr marL="0" lvl="0" indent="0">
              <a:buNone/>
            </a:pPr>
            <a:r>
              <a:rPr lang="en-US" dirty="0"/>
              <a:t>+ Deploy source artifact to UAT environment.</a:t>
            </a:r>
          </a:p>
          <a:p>
            <a:pPr marL="0" lvl="0" indent="0">
              <a:buNone/>
            </a:pPr>
            <a:r>
              <a:rPr lang="en-US" dirty="0"/>
              <a:t>+ Run automation test</a:t>
            </a:r>
          </a:p>
          <a:p>
            <a:pPr marL="0" lvl="0" indent="0">
              <a:buNone/>
            </a:pPr>
            <a:r>
              <a:rPr lang="en-US" dirty="0"/>
              <a:t>+ Review and release source artifact to production environment.</a:t>
            </a:r>
          </a:p>
          <a:p>
            <a:pPr marL="0" indent="0">
              <a:buNone/>
            </a:pPr>
            <a:r>
              <a:rPr lang="en-US" b="1" dirty="0"/>
              <a:t> </a:t>
            </a:r>
          </a:p>
          <a:p>
            <a:endParaRPr lang="en-US" dirty="0"/>
          </a:p>
        </p:txBody>
      </p:sp>
      <p:sp>
        <p:nvSpPr>
          <p:cNvPr id="4" name="Slide Number Placeholder 3">
            <a:extLst>
              <a:ext uri="{FF2B5EF4-FFF2-40B4-BE49-F238E27FC236}">
                <a16:creationId xmlns:a16="http://schemas.microsoft.com/office/drawing/2014/main" id="{224FF1E4-29E0-A63A-2D0E-49BED646740E}"/>
              </a:ext>
            </a:extLst>
          </p:cNvPr>
          <p:cNvSpPr>
            <a:spLocks noGrp="1"/>
          </p:cNvSpPr>
          <p:nvPr>
            <p:ph type="sldNum" sz="quarter" idx="12"/>
          </p:nvPr>
        </p:nvSpPr>
        <p:spPr/>
        <p:txBody>
          <a:bodyPr/>
          <a:lstStyle/>
          <a:p>
            <a:fld id="{4007D543-D9BA-1A48-A5FD-0DD23AC00E9F}" type="slidenum">
              <a:rPr lang="en-US" sz="2400" smtClean="0"/>
              <a:t>9</a:t>
            </a:fld>
            <a:endParaRPr lang="en-US" sz="2400" dirty="0"/>
          </a:p>
        </p:txBody>
      </p:sp>
      <p:pic>
        <p:nvPicPr>
          <p:cNvPr id="5" name="Picture 4">
            <a:extLst>
              <a:ext uri="{FF2B5EF4-FFF2-40B4-BE49-F238E27FC236}">
                <a16:creationId xmlns:a16="http://schemas.microsoft.com/office/drawing/2014/main" id="{183136E2-7453-413D-5C0C-6670DE7A2AE3}"/>
              </a:ext>
            </a:extLst>
          </p:cNvPr>
          <p:cNvPicPr>
            <a:picLocks noChangeAspect="1"/>
          </p:cNvPicPr>
          <p:nvPr/>
        </p:nvPicPr>
        <p:blipFill>
          <a:blip r:embed="rId2"/>
          <a:stretch>
            <a:fillRect/>
          </a:stretch>
        </p:blipFill>
        <p:spPr>
          <a:xfrm>
            <a:off x="7192367" y="4642901"/>
            <a:ext cx="4456113" cy="2092436"/>
          </a:xfrm>
          <a:prstGeom prst="rect">
            <a:avLst/>
          </a:prstGeom>
        </p:spPr>
      </p:pic>
    </p:spTree>
    <p:extLst>
      <p:ext uri="{BB962C8B-B14F-4D97-AF65-F5344CB8AC3E}">
        <p14:creationId xmlns:p14="http://schemas.microsoft.com/office/powerpoint/2010/main" val="4220960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12B478C-7B43-2407-7AB6-E84726435F07}"/>
              </a:ext>
            </a:extLst>
          </p:cNvPr>
          <p:cNvPicPr>
            <a:picLocks noChangeAspect="1"/>
          </p:cNvPicPr>
          <p:nvPr/>
        </p:nvPicPr>
        <p:blipFill>
          <a:blip r:embed="rId2"/>
          <a:stretch>
            <a:fillRect/>
          </a:stretch>
        </p:blipFill>
        <p:spPr>
          <a:xfrm>
            <a:off x="2409639" y="309999"/>
            <a:ext cx="8908676" cy="4251202"/>
          </a:xfrm>
          <a:prstGeom prst="rect">
            <a:avLst/>
          </a:prstGeom>
        </p:spPr>
      </p:pic>
      <p:pic>
        <p:nvPicPr>
          <p:cNvPr id="12" name="Picture 11">
            <a:extLst>
              <a:ext uri="{FF2B5EF4-FFF2-40B4-BE49-F238E27FC236}">
                <a16:creationId xmlns:a16="http://schemas.microsoft.com/office/drawing/2014/main" id="{F7B1FC2E-A9D7-E3F5-7CE1-350F260C47A9}"/>
              </a:ext>
            </a:extLst>
          </p:cNvPr>
          <p:cNvPicPr>
            <a:picLocks noChangeAspect="1"/>
          </p:cNvPicPr>
          <p:nvPr/>
        </p:nvPicPr>
        <p:blipFill>
          <a:blip r:embed="rId3"/>
          <a:stretch>
            <a:fillRect/>
          </a:stretch>
        </p:blipFill>
        <p:spPr>
          <a:xfrm>
            <a:off x="2409639" y="4251202"/>
            <a:ext cx="8155025" cy="2606799"/>
          </a:xfrm>
          <a:prstGeom prst="rect">
            <a:avLst/>
          </a:prstGeom>
        </p:spPr>
      </p:pic>
      <p:pic>
        <p:nvPicPr>
          <p:cNvPr id="13" name="Picture 12">
            <a:extLst>
              <a:ext uri="{FF2B5EF4-FFF2-40B4-BE49-F238E27FC236}">
                <a16:creationId xmlns:a16="http://schemas.microsoft.com/office/drawing/2014/main" id="{67075EC1-8C29-7E05-A14F-D714F69D5D53}"/>
              </a:ext>
            </a:extLst>
          </p:cNvPr>
          <p:cNvPicPr>
            <a:picLocks noChangeAspect="1"/>
          </p:cNvPicPr>
          <p:nvPr/>
        </p:nvPicPr>
        <p:blipFill>
          <a:blip r:embed="rId4"/>
          <a:stretch>
            <a:fillRect/>
          </a:stretch>
        </p:blipFill>
        <p:spPr>
          <a:xfrm>
            <a:off x="3622115" y="4229646"/>
            <a:ext cx="7696200" cy="2565400"/>
          </a:xfrm>
          <a:prstGeom prst="rect">
            <a:avLst/>
          </a:prstGeom>
        </p:spPr>
      </p:pic>
      <p:sp>
        <p:nvSpPr>
          <p:cNvPr id="14" name="Title 1">
            <a:extLst>
              <a:ext uri="{FF2B5EF4-FFF2-40B4-BE49-F238E27FC236}">
                <a16:creationId xmlns:a16="http://schemas.microsoft.com/office/drawing/2014/main" id="{FF20C0D6-78E9-5406-83D6-566924C72FC5}"/>
              </a:ext>
            </a:extLst>
          </p:cNvPr>
          <p:cNvSpPr>
            <a:spLocks noGrp="1"/>
          </p:cNvSpPr>
          <p:nvPr>
            <p:ph type="title"/>
          </p:nvPr>
        </p:nvSpPr>
        <p:spPr>
          <a:xfrm>
            <a:off x="82033" y="159335"/>
            <a:ext cx="2042602" cy="2597311"/>
          </a:xfrm>
        </p:spPr>
        <p:txBody>
          <a:bodyPr>
            <a:normAutofit/>
          </a:bodyPr>
          <a:lstStyle/>
          <a:p>
            <a:r>
              <a:rPr lang="en-US" sz="2000" b="1" u="sng" dirty="0"/>
              <a:t>Report 3</a:t>
            </a:r>
            <a:r>
              <a:rPr lang="en-US" sz="2000" u="sng" dirty="0"/>
              <a:t>: </a:t>
            </a:r>
            <a:r>
              <a:rPr lang="en-US" sz="2000" dirty="0"/>
              <a:t>Software Specific Requirements</a:t>
            </a:r>
            <a:br>
              <a:rPr lang="en-US" sz="2000" dirty="0"/>
            </a:br>
            <a:r>
              <a:rPr lang="en-US" sz="2000" dirty="0"/>
              <a:t>(CI/CD requirement example)</a:t>
            </a:r>
          </a:p>
        </p:txBody>
      </p:sp>
      <p:sp>
        <p:nvSpPr>
          <p:cNvPr id="2" name="Slide Number Placeholder 1">
            <a:extLst>
              <a:ext uri="{FF2B5EF4-FFF2-40B4-BE49-F238E27FC236}">
                <a16:creationId xmlns:a16="http://schemas.microsoft.com/office/drawing/2014/main" id="{99E9484B-F6F7-657F-74C1-D250FB8B4842}"/>
              </a:ext>
            </a:extLst>
          </p:cNvPr>
          <p:cNvSpPr>
            <a:spLocks noGrp="1"/>
          </p:cNvSpPr>
          <p:nvPr>
            <p:ph type="sldNum" sz="quarter" idx="12"/>
          </p:nvPr>
        </p:nvSpPr>
        <p:spPr>
          <a:xfrm>
            <a:off x="11318315" y="6182876"/>
            <a:ext cx="683339" cy="365125"/>
          </a:xfrm>
        </p:spPr>
        <p:txBody>
          <a:bodyPr/>
          <a:lstStyle/>
          <a:p>
            <a:fld id="{4007D543-D9BA-1A48-A5FD-0DD23AC00E9F}" type="slidenum">
              <a:rPr lang="en-US" sz="2400" b="1" spc="50" smtClean="0">
                <a:ln w="9525" cmpd="sng">
                  <a:solidFill>
                    <a:schemeClr val="accent1"/>
                  </a:solidFill>
                  <a:prstDash val="solid"/>
                </a:ln>
                <a:solidFill>
                  <a:srgbClr val="70AD47">
                    <a:tint val="1000"/>
                  </a:srgbClr>
                </a:solidFill>
                <a:effectLst>
                  <a:glow rad="38100">
                    <a:schemeClr val="accent1">
                      <a:alpha val="40000"/>
                    </a:schemeClr>
                  </a:glow>
                </a:effectLst>
              </a:rPr>
              <a:t>10</a:t>
            </a:fld>
            <a:endParaRPr lang="en-US" sz="24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3401113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FA7F8-F62E-6B05-7FFA-7304A4E5270B}"/>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F2DC11A0-AE1B-52BD-9CD2-C5838AE782FD}"/>
              </a:ext>
            </a:extLst>
          </p:cNvPr>
          <p:cNvSpPr>
            <a:spLocks noGrp="1"/>
          </p:cNvSpPr>
          <p:nvPr>
            <p:ph type="title"/>
          </p:nvPr>
        </p:nvSpPr>
        <p:spPr>
          <a:xfrm>
            <a:off x="82033" y="159335"/>
            <a:ext cx="10553310" cy="862641"/>
          </a:xfrm>
        </p:spPr>
        <p:txBody>
          <a:bodyPr>
            <a:normAutofit/>
          </a:bodyPr>
          <a:lstStyle/>
          <a:p>
            <a:r>
              <a:rPr lang="en-US" sz="2000" b="1" u="sng" dirty="0"/>
              <a:t>Report 3</a:t>
            </a:r>
            <a:r>
              <a:rPr lang="en-US" sz="2000" u="sng" dirty="0"/>
              <a:t>: </a:t>
            </a:r>
            <a:r>
              <a:rPr lang="en-US" sz="2000" dirty="0"/>
              <a:t>Software Specific Requirements – Automation test case list</a:t>
            </a:r>
          </a:p>
        </p:txBody>
      </p:sp>
      <p:sp>
        <p:nvSpPr>
          <p:cNvPr id="3" name="Slide Number Placeholder 2">
            <a:extLst>
              <a:ext uri="{FF2B5EF4-FFF2-40B4-BE49-F238E27FC236}">
                <a16:creationId xmlns:a16="http://schemas.microsoft.com/office/drawing/2014/main" id="{1CF6234C-3925-E8F1-A262-19AC328A98AF}"/>
              </a:ext>
            </a:extLst>
          </p:cNvPr>
          <p:cNvSpPr>
            <a:spLocks noGrp="1"/>
          </p:cNvSpPr>
          <p:nvPr>
            <p:ph type="sldNum" sz="quarter" idx="12"/>
          </p:nvPr>
        </p:nvSpPr>
        <p:spPr/>
        <p:txBody>
          <a:bodyPr/>
          <a:lstStyle/>
          <a:p>
            <a:fld id="{4007D543-D9BA-1A48-A5FD-0DD23AC00E9F}" type="slidenum">
              <a:rPr lang="en-US" sz="2400" smtClean="0"/>
              <a:t>11</a:t>
            </a:fld>
            <a:endParaRPr lang="en-US" sz="2400" dirty="0"/>
          </a:p>
        </p:txBody>
      </p:sp>
      <p:pic>
        <p:nvPicPr>
          <p:cNvPr id="4" name="Picture 3">
            <a:extLst>
              <a:ext uri="{FF2B5EF4-FFF2-40B4-BE49-F238E27FC236}">
                <a16:creationId xmlns:a16="http://schemas.microsoft.com/office/drawing/2014/main" id="{685AD751-B20C-BBF7-A534-FA3FAE62DA65}"/>
              </a:ext>
            </a:extLst>
          </p:cNvPr>
          <p:cNvPicPr>
            <a:picLocks noChangeAspect="1"/>
          </p:cNvPicPr>
          <p:nvPr/>
        </p:nvPicPr>
        <p:blipFill>
          <a:blip r:embed="rId2"/>
          <a:stretch>
            <a:fillRect/>
          </a:stretch>
        </p:blipFill>
        <p:spPr>
          <a:xfrm>
            <a:off x="821067" y="817197"/>
            <a:ext cx="10238817" cy="6040803"/>
          </a:xfrm>
          <a:prstGeom prst="rect">
            <a:avLst/>
          </a:prstGeom>
        </p:spPr>
      </p:pic>
    </p:spTree>
    <p:extLst>
      <p:ext uri="{BB962C8B-B14F-4D97-AF65-F5344CB8AC3E}">
        <p14:creationId xmlns:p14="http://schemas.microsoft.com/office/powerpoint/2010/main" val="3306561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E04B6-C542-4B82-6512-1EF7AD016A4F}"/>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A53BC462-EE0D-8BAA-AD7C-0497F8DC6758}"/>
              </a:ext>
            </a:extLst>
          </p:cNvPr>
          <p:cNvSpPr>
            <a:spLocks noGrp="1"/>
          </p:cNvSpPr>
          <p:nvPr>
            <p:ph type="title"/>
          </p:nvPr>
        </p:nvSpPr>
        <p:spPr>
          <a:xfrm>
            <a:off x="82033" y="159335"/>
            <a:ext cx="10553310" cy="862641"/>
          </a:xfrm>
        </p:spPr>
        <p:txBody>
          <a:bodyPr>
            <a:normAutofit/>
          </a:bodyPr>
          <a:lstStyle/>
          <a:p>
            <a:r>
              <a:rPr lang="en-US" sz="2000" b="1" u="sng" dirty="0"/>
              <a:t>Report 3</a:t>
            </a:r>
            <a:r>
              <a:rPr lang="en-US" sz="2000" u="sng" dirty="0"/>
              <a:t>: </a:t>
            </a:r>
            <a:r>
              <a:rPr lang="en-US" sz="2000" dirty="0"/>
              <a:t>Software Specific Requirements – Automation test case example</a:t>
            </a:r>
          </a:p>
        </p:txBody>
      </p:sp>
      <p:sp>
        <p:nvSpPr>
          <p:cNvPr id="3" name="Slide Number Placeholder 2">
            <a:extLst>
              <a:ext uri="{FF2B5EF4-FFF2-40B4-BE49-F238E27FC236}">
                <a16:creationId xmlns:a16="http://schemas.microsoft.com/office/drawing/2014/main" id="{DBF55EE9-A35F-0AF4-3EEF-E8C4E9351452}"/>
              </a:ext>
            </a:extLst>
          </p:cNvPr>
          <p:cNvSpPr>
            <a:spLocks noGrp="1"/>
          </p:cNvSpPr>
          <p:nvPr>
            <p:ph type="sldNum" sz="quarter" idx="12"/>
          </p:nvPr>
        </p:nvSpPr>
        <p:spPr/>
        <p:txBody>
          <a:bodyPr/>
          <a:lstStyle/>
          <a:p>
            <a:fld id="{4007D543-D9BA-1A48-A5FD-0DD23AC00E9F}" type="slidenum">
              <a:rPr lang="en-US" sz="2400" smtClean="0"/>
              <a:t>12</a:t>
            </a:fld>
            <a:endParaRPr lang="en-US" sz="2400" dirty="0"/>
          </a:p>
        </p:txBody>
      </p:sp>
      <p:pic>
        <p:nvPicPr>
          <p:cNvPr id="2" name="Picture 1">
            <a:extLst>
              <a:ext uri="{FF2B5EF4-FFF2-40B4-BE49-F238E27FC236}">
                <a16:creationId xmlns:a16="http://schemas.microsoft.com/office/drawing/2014/main" id="{F1C36468-07CD-BD1A-2855-058F58CD9C1F}"/>
              </a:ext>
            </a:extLst>
          </p:cNvPr>
          <p:cNvPicPr>
            <a:picLocks noChangeAspect="1"/>
          </p:cNvPicPr>
          <p:nvPr/>
        </p:nvPicPr>
        <p:blipFill>
          <a:blip r:embed="rId2"/>
          <a:stretch>
            <a:fillRect/>
          </a:stretch>
        </p:blipFill>
        <p:spPr>
          <a:xfrm>
            <a:off x="300818" y="801872"/>
            <a:ext cx="11590364" cy="6056128"/>
          </a:xfrm>
          <a:prstGeom prst="rect">
            <a:avLst/>
          </a:prstGeom>
        </p:spPr>
      </p:pic>
    </p:spTree>
    <p:extLst>
      <p:ext uri="{BB962C8B-B14F-4D97-AF65-F5344CB8AC3E}">
        <p14:creationId xmlns:p14="http://schemas.microsoft.com/office/powerpoint/2010/main" val="157027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C6C8B-9B53-8436-2722-184A338AD72A}"/>
              </a:ext>
            </a:extLst>
          </p:cNvPr>
          <p:cNvSpPr>
            <a:spLocks noGrp="1"/>
          </p:cNvSpPr>
          <p:nvPr>
            <p:ph type="title"/>
          </p:nvPr>
        </p:nvSpPr>
        <p:spPr>
          <a:xfrm>
            <a:off x="0" y="0"/>
            <a:ext cx="8596668" cy="1320800"/>
          </a:xfrm>
        </p:spPr>
        <p:txBody>
          <a:bodyPr>
            <a:normAutofit/>
          </a:bodyPr>
          <a:lstStyle/>
          <a:p>
            <a:r>
              <a:rPr lang="en-US" sz="2000" b="1" u="sng" dirty="0"/>
              <a:t>Report 4</a:t>
            </a:r>
            <a:r>
              <a:rPr lang="en-US" sz="2000" dirty="0"/>
              <a:t>: Component Diagram</a:t>
            </a:r>
            <a:br>
              <a:rPr lang="en-US" sz="2000" dirty="0"/>
            </a:br>
            <a:r>
              <a:rPr lang="en-US" sz="2000" dirty="0"/>
              <a:t>(AWS)</a:t>
            </a:r>
          </a:p>
        </p:txBody>
      </p:sp>
      <p:pic>
        <p:nvPicPr>
          <p:cNvPr id="4" name="Picture 3" descr="A computer screen shot of a diagram&#10;&#10;Description automatically generated">
            <a:extLst>
              <a:ext uri="{FF2B5EF4-FFF2-40B4-BE49-F238E27FC236}">
                <a16:creationId xmlns:a16="http://schemas.microsoft.com/office/drawing/2014/main" id="{1B5D516A-7D05-9F3E-F2FE-E363D0863333}"/>
              </a:ext>
            </a:extLst>
          </p:cNvPr>
          <p:cNvPicPr>
            <a:picLocks noChangeAspect="1"/>
          </p:cNvPicPr>
          <p:nvPr/>
        </p:nvPicPr>
        <p:blipFill>
          <a:blip r:embed="rId2"/>
          <a:stretch>
            <a:fillRect/>
          </a:stretch>
        </p:blipFill>
        <p:spPr>
          <a:xfrm>
            <a:off x="3624291" y="0"/>
            <a:ext cx="7958109" cy="6885257"/>
          </a:xfrm>
          <a:prstGeom prst="rect">
            <a:avLst/>
          </a:prstGeom>
        </p:spPr>
      </p:pic>
      <p:sp>
        <p:nvSpPr>
          <p:cNvPr id="3" name="Slide Number Placeholder 2">
            <a:extLst>
              <a:ext uri="{FF2B5EF4-FFF2-40B4-BE49-F238E27FC236}">
                <a16:creationId xmlns:a16="http://schemas.microsoft.com/office/drawing/2014/main" id="{7CB94326-04B4-8C21-B044-8C97873803CB}"/>
              </a:ext>
            </a:extLst>
          </p:cNvPr>
          <p:cNvSpPr>
            <a:spLocks noGrp="1"/>
          </p:cNvSpPr>
          <p:nvPr>
            <p:ph type="sldNum" sz="quarter" idx="12"/>
          </p:nvPr>
        </p:nvSpPr>
        <p:spPr>
          <a:xfrm>
            <a:off x="11420949" y="6302619"/>
            <a:ext cx="683339" cy="365125"/>
          </a:xfrm>
        </p:spPr>
        <p:txBody>
          <a:bodyPr/>
          <a:lstStyle/>
          <a:p>
            <a:fld id="{4007D543-D9BA-1A48-A5FD-0DD23AC00E9F}" type="slidenum">
              <a:rPr lang="en-US" sz="2400" b="1" spc="50" smtClean="0">
                <a:ln w="9525" cmpd="sng">
                  <a:solidFill>
                    <a:schemeClr val="accent1"/>
                  </a:solidFill>
                  <a:prstDash val="solid"/>
                </a:ln>
                <a:solidFill>
                  <a:srgbClr val="70AD47">
                    <a:tint val="1000"/>
                  </a:srgbClr>
                </a:solidFill>
                <a:effectLst>
                  <a:glow rad="38100">
                    <a:schemeClr val="accent1">
                      <a:alpha val="40000"/>
                    </a:schemeClr>
                  </a:glow>
                </a:effectLst>
              </a:rPr>
              <a:t>13</a:t>
            </a:fld>
            <a:endParaRPr lang="en-US" sz="24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2958217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508AD-090B-E74F-53EF-F04F7EEAE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4FD2E-181F-2DB7-5A1E-E85C33E0CFD7}"/>
              </a:ext>
            </a:extLst>
          </p:cNvPr>
          <p:cNvSpPr>
            <a:spLocks noGrp="1"/>
          </p:cNvSpPr>
          <p:nvPr>
            <p:ph type="title"/>
          </p:nvPr>
        </p:nvSpPr>
        <p:spPr>
          <a:xfrm>
            <a:off x="0" y="0"/>
            <a:ext cx="8596668" cy="1320800"/>
          </a:xfrm>
        </p:spPr>
        <p:txBody>
          <a:bodyPr>
            <a:normAutofit/>
          </a:bodyPr>
          <a:lstStyle/>
          <a:p>
            <a:r>
              <a:rPr lang="en-US" sz="2000" b="1" u="sng" dirty="0"/>
              <a:t>Report 4: </a:t>
            </a:r>
            <a:br>
              <a:rPr lang="en-US" sz="2000" dirty="0"/>
            </a:br>
            <a:r>
              <a:rPr lang="en-US" sz="2000" dirty="0"/>
              <a:t>Component Diagram </a:t>
            </a:r>
            <a:br>
              <a:rPr lang="en-US" sz="2000" dirty="0"/>
            </a:br>
            <a:r>
              <a:rPr lang="en-US" sz="2000" dirty="0"/>
              <a:t>(Selenium Cucumber)</a:t>
            </a:r>
          </a:p>
        </p:txBody>
      </p:sp>
      <p:pic>
        <p:nvPicPr>
          <p:cNvPr id="3" name="Picture 2" descr="A diagram of a software process&#10;&#10;AI-generated content may be incorrect.">
            <a:extLst>
              <a:ext uri="{FF2B5EF4-FFF2-40B4-BE49-F238E27FC236}">
                <a16:creationId xmlns:a16="http://schemas.microsoft.com/office/drawing/2014/main" id="{632FAE60-59D2-07E8-256E-E81A1AA5A166}"/>
              </a:ext>
            </a:extLst>
          </p:cNvPr>
          <p:cNvPicPr>
            <a:picLocks noChangeAspect="1"/>
          </p:cNvPicPr>
          <p:nvPr/>
        </p:nvPicPr>
        <p:blipFill>
          <a:blip r:embed="rId2"/>
          <a:stretch>
            <a:fillRect/>
          </a:stretch>
        </p:blipFill>
        <p:spPr>
          <a:xfrm>
            <a:off x="2608729" y="25707"/>
            <a:ext cx="9583271" cy="4114595"/>
          </a:xfrm>
          <a:prstGeom prst="rect">
            <a:avLst/>
          </a:prstGeom>
        </p:spPr>
      </p:pic>
      <p:pic>
        <p:nvPicPr>
          <p:cNvPr id="5" name="Picture 4" descr="A computer screen shot of a computer code&#10;&#10;AI-generated content may be incorrect.">
            <a:extLst>
              <a:ext uri="{FF2B5EF4-FFF2-40B4-BE49-F238E27FC236}">
                <a16:creationId xmlns:a16="http://schemas.microsoft.com/office/drawing/2014/main" id="{4536CDC4-51EA-294E-CC85-99934CF85878}"/>
              </a:ext>
            </a:extLst>
          </p:cNvPr>
          <p:cNvPicPr>
            <a:picLocks noChangeAspect="1"/>
          </p:cNvPicPr>
          <p:nvPr/>
        </p:nvPicPr>
        <p:blipFill>
          <a:blip r:embed="rId3"/>
          <a:stretch>
            <a:fillRect/>
          </a:stretch>
        </p:blipFill>
        <p:spPr>
          <a:xfrm>
            <a:off x="611350" y="3887227"/>
            <a:ext cx="10441642" cy="2836957"/>
          </a:xfrm>
          <a:prstGeom prst="rect">
            <a:avLst/>
          </a:prstGeom>
        </p:spPr>
      </p:pic>
      <p:sp>
        <p:nvSpPr>
          <p:cNvPr id="4" name="Slide Number Placeholder 3">
            <a:extLst>
              <a:ext uri="{FF2B5EF4-FFF2-40B4-BE49-F238E27FC236}">
                <a16:creationId xmlns:a16="http://schemas.microsoft.com/office/drawing/2014/main" id="{ECEC7E85-0C8C-6117-A4E9-3A79CA42DF59}"/>
              </a:ext>
            </a:extLst>
          </p:cNvPr>
          <p:cNvSpPr>
            <a:spLocks noGrp="1"/>
          </p:cNvSpPr>
          <p:nvPr>
            <p:ph type="sldNum" sz="quarter" idx="12"/>
          </p:nvPr>
        </p:nvSpPr>
        <p:spPr>
          <a:xfrm>
            <a:off x="10897311" y="6200123"/>
            <a:ext cx="683339" cy="365125"/>
          </a:xfrm>
        </p:spPr>
        <p:txBody>
          <a:bodyPr/>
          <a:lstStyle/>
          <a:p>
            <a:fld id="{4007D543-D9BA-1A48-A5FD-0DD23AC00E9F}" type="slidenum">
              <a:rPr lang="en-US" sz="2400" smtClean="0">
                <a:solidFill>
                  <a:schemeClr val="bg1"/>
                </a:solidFill>
              </a:rPr>
              <a:t>14</a:t>
            </a:fld>
            <a:endParaRPr lang="en-US" sz="2400" dirty="0">
              <a:solidFill>
                <a:schemeClr val="bg1"/>
              </a:solidFill>
            </a:endParaRPr>
          </a:p>
        </p:txBody>
      </p:sp>
    </p:spTree>
    <p:extLst>
      <p:ext uri="{BB962C8B-B14F-4D97-AF65-F5344CB8AC3E}">
        <p14:creationId xmlns:p14="http://schemas.microsoft.com/office/powerpoint/2010/main" val="750402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19BFD-98C7-C88B-A1B8-502DC05C0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6E595-265C-E5B9-EA88-F00349D94224}"/>
              </a:ext>
            </a:extLst>
          </p:cNvPr>
          <p:cNvSpPr>
            <a:spLocks noGrp="1"/>
          </p:cNvSpPr>
          <p:nvPr>
            <p:ph type="title"/>
          </p:nvPr>
        </p:nvSpPr>
        <p:spPr>
          <a:xfrm>
            <a:off x="0" y="0"/>
            <a:ext cx="8596668" cy="1320800"/>
          </a:xfrm>
        </p:spPr>
        <p:txBody>
          <a:bodyPr>
            <a:normAutofit/>
          </a:bodyPr>
          <a:lstStyle/>
          <a:p>
            <a:r>
              <a:rPr lang="en-US" sz="2000" b="1" u="sng" dirty="0"/>
              <a:t>Report 4</a:t>
            </a:r>
            <a:br>
              <a:rPr lang="en-US" sz="2000" dirty="0"/>
            </a:br>
            <a:r>
              <a:rPr lang="en-US" sz="2000" dirty="0"/>
              <a:t>Sequence Diagram </a:t>
            </a:r>
            <a:br>
              <a:rPr lang="en-US" sz="2000" dirty="0"/>
            </a:br>
            <a:r>
              <a:rPr lang="en-US" sz="2000" dirty="0"/>
              <a:t>(Selenium Cucumber)</a:t>
            </a:r>
          </a:p>
        </p:txBody>
      </p:sp>
      <p:pic>
        <p:nvPicPr>
          <p:cNvPr id="6" name="Picture 5" descr="A screenshot of a computer&#10;&#10;AI-generated content may be incorrect.">
            <a:extLst>
              <a:ext uri="{FF2B5EF4-FFF2-40B4-BE49-F238E27FC236}">
                <a16:creationId xmlns:a16="http://schemas.microsoft.com/office/drawing/2014/main" id="{6EA9A20A-26CE-F595-29E6-4FCD0BAD8493}"/>
              </a:ext>
            </a:extLst>
          </p:cNvPr>
          <p:cNvPicPr>
            <a:picLocks noChangeAspect="1"/>
          </p:cNvPicPr>
          <p:nvPr/>
        </p:nvPicPr>
        <p:blipFill>
          <a:blip r:embed="rId2"/>
          <a:stretch>
            <a:fillRect/>
          </a:stretch>
        </p:blipFill>
        <p:spPr>
          <a:xfrm>
            <a:off x="497540" y="1529999"/>
            <a:ext cx="3872753" cy="5049221"/>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A78661C5-6935-0170-DF4E-FB3852FCD328}"/>
              </a:ext>
            </a:extLst>
          </p:cNvPr>
          <p:cNvPicPr>
            <a:picLocks noChangeAspect="1"/>
          </p:cNvPicPr>
          <p:nvPr/>
        </p:nvPicPr>
        <p:blipFill>
          <a:blip r:embed="rId3"/>
          <a:stretch>
            <a:fillRect/>
          </a:stretch>
        </p:blipFill>
        <p:spPr>
          <a:xfrm>
            <a:off x="5485135" y="1442289"/>
            <a:ext cx="3111533" cy="5136931"/>
          </a:xfrm>
          <a:prstGeom prst="rect">
            <a:avLst/>
          </a:prstGeom>
        </p:spPr>
      </p:pic>
      <p:pic>
        <p:nvPicPr>
          <p:cNvPr id="3" name="Picture 2">
            <a:extLst>
              <a:ext uri="{FF2B5EF4-FFF2-40B4-BE49-F238E27FC236}">
                <a16:creationId xmlns:a16="http://schemas.microsoft.com/office/drawing/2014/main" id="{3A2B7330-E280-7F6F-820D-627C4AD26BBC}"/>
              </a:ext>
            </a:extLst>
          </p:cNvPr>
          <p:cNvPicPr>
            <a:picLocks noChangeAspect="1"/>
          </p:cNvPicPr>
          <p:nvPr/>
        </p:nvPicPr>
        <p:blipFill>
          <a:blip r:embed="rId4"/>
          <a:stretch>
            <a:fillRect/>
          </a:stretch>
        </p:blipFill>
        <p:spPr>
          <a:xfrm>
            <a:off x="2598235" y="-1"/>
            <a:ext cx="9593766" cy="1241439"/>
          </a:xfrm>
          <a:prstGeom prst="rect">
            <a:avLst/>
          </a:prstGeom>
        </p:spPr>
      </p:pic>
      <p:sp>
        <p:nvSpPr>
          <p:cNvPr id="4" name="Slide Number Placeholder 3">
            <a:extLst>
              <a:ext uri="{FF2B5EF4-FFF2-40B4-BE49-F238E27FC236}">
                <a16:creationId xmlns:a16="http://schemas.microsoft.com/office/drawing/2014/main" id="{EE7452A8-440D-70A5-D7F4-F1D110A02562}"/>
              </a:ext>
            </a:extLst>
          </p:cNvPr>
          <p:cNvSpPr>
            <a:spLocks noGrp="1"/>
          </p:cNvSpPr>
          <p:nvPr>
            <p:ph type="sldNum" sz="quarter" idx="12"/>
          </p:nvPr>
        </p:nvSpPr>
        <p:spPr/>
        <p:txBody>
          <a:bodyPr/>
          <a:lstStyle/>
          <a:p>
            <a:fld id="{4007D543-D9BA-1A48-A5FD-0DD23AC00E9F}" type="slidenum">
              <a:rPr lang="en-US" sz="2400" smtClean="0"/>
              <a:t>15</a:t>
            </a:fld>
            <a:endParaRPr lang="en-US" sz="2400"/>
          </a:p>
        </p:txBody>
      </p:sp>
    </p:spTree>
    <p:extLst>
      <p:ext uri="{BB962C8B-B14F-4D97-AF65-F5344CB8AC3E}">
        <p14:creationId xmlns:p14="http://schemas.microsoft.com/office/powerpoint/2010/main" val="2219301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0EC41-96EC-6B7C-37A0-CBA03123F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A9A34-836C-4B21-40E1-667195741047}"/>
              </a:ext>
            </a:extLst>
          </p:cNvPr>
          <p:cNvSpPr>
            <a:spLocks noGrp="1"/>
          </p:cNvSpPr>
          <p:nvPr>
            <p:ph type="title"/>
          </p:nvPr>
        </p:nvSpPr>
        <p:spPr>
          <a:xfrm>
            <a:off x="0" y="0"/>
            <a:ext cx="8596668" cy="1320800"/>
          </a:xfrm>
        </p:spPr>
        <p:txBody>
          <a:bodyPr>
            <a:normAutofit/>
          </a:bodyPr>
          <a:lstStyle/>
          <a:p>
            <a:r>
              <a:rPr lang="en-US" sz="2000" b="1" u="sng" dirty="0"/>
              <a:t>Report 4</a:t>
            </a:r>
            <a:r>
              <a:rPr lang="en-US" sz="2000" dirty="0"/>
              <a:t>: Sequence Diagram</a:t>
            </a:r>
            <a:br>
              <a:rPr lang="en-US" sz="2000" dirty="0"/>
            </a:br>
            <a:r>
              <a:rPr lang="en-US" sz="2000" dirty="0"/>
              <a:t>(AWS)</a:t>
            </a:r>
          </a:p>
        </p:txBody>
      </p:sp>
      <p:pic>
        <p:nvPicPr>
          <p:cNvPr id="3" name="Picture 2" descr="A diagram of a program&#10;&#10;AI-generated content may be incorrect.">
            <a:extLst>
              <a:ext uri="{FF2B5EF4-FFF2-40B4-BE49-F238E27FC236}">
                <a16:creationId xmlns:a16="http://schemas.microsoft.com/office/drawing/2014/main" id="{2210EA97-20AF-BCEC-5F3B-1C06F4C2E492}"/>
              </a:ext>
            </a:extLst>
          </p:cNvPr>
          <p:cNvPicPr>
            <a:picLocks noChangeAspect="1"/>
          </p:cNvPicPr>
          <p:nvPr/>
        </p:nvPicPr>
        <p:blipFill>
          <a:blip r:embed="rId2"/>
          <a:stretch>
            <a:fillRect/>
          </a:stretch>
        </p:blipFill>
        <p:spPr>
          <a:xfrm>
            <a:off x="3778121" y="0"/>
            <a:ext cx="5680785" cy="6862640"/>
          </a:xfrm>
          <a:prstGeom prst="rect">
            <a:avLst/>
          </a:prstGeom>
        </p:spPr>
      </p:pic>
      <p:sp>
        <p:nvSpPr>
          <p:cNvPr id="4" name="Slide Number Placeholder 3">
            <a:extLst>
              <a:ext uri="{FF2B5EF4-FFF2-40B4-BE49-F238E27FC236}">
                <a16:creationId xmlns:a16="http://schemas.microsoft.com/office/drawing/2014/main" id="{46A7E6D8-6E2D-ABB7-8569-CA864B8D2B3D}"/>
              </a:ext>
            </a:extLst>
          </p:cNvPr>
          <p:cNvSpPr>
            <a:spLocks noGrp="1"/>
          </p:cNvSpPr>
          <p:nvPr>
            <p:ph type="sldNum" sz="quarter" idx="12"/>
          </p:nvPr>
        </p:nvSpPr>
        <p:spPr>
          <a:xfrm>
            <a:off x="8688635" y="6052248"/>
            <a:ext cx="683339" cy="365125"/>
          </a:xfrm>
        </p:spPr>
        <p:txBody>
          <a:bodyPr/>
          <a:lstStyle/>
          <a:p>
            <a:fld id="{4007D543-D9BA-1A48-A5FD-0DD23AC00E9F}" type="slidenum">
              <a:rPr lang="en-US" sz="2400" smtClean="0"/>
              <a:t>16</a:t>
            </a:fld>
            <a:endParaRPr lang="en-US" sz="2400" dirty="0"/>
          </a:p>
        </p:txBody>
      </p:sp>
    </p:spTree>
    <p:extLst>
      <p:ext uri="{BB962C8B-B14F-4D97-AF65-F5344CB8AC3E}">
        <p14:creationId xmlns:p14="http://schemas.microsoft.com/office/powerpoint/2010/main" val="1108375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8842D-5685-326D-7A91-3D0862364659}"/>
              </a:ext>
            </a:extLst>
          </p:cNvPr>
          <p:cNvSpPr>
            <a:spLocks noGrp="1"/>
          </p:cNvSpPr>
          <p:nvPr>
            <p:ph type="title"/>
          </p:nvPr>
        </p:nvSpPr>
        <p:spPr>
          <a:xfrm>
            <a:off x="112558" y="233082"/>
            <a:ext cx="5091454" cy="640976"/>
          </a:xfrm>
        </p:spPr>
        <p:txBody>
          <a:bodyPr>
            <a:normAutofit/>
          </a:bodyPr>
          <a:lstStyle/>
          <a:p>
            <a:r>
              <a:rPr lang="en-US" sz="2000" b="1" dirty="0"/>
              <a:t>Report 4: </a:t>
            </a:r>
            <a:r>
              <a:rPr lang="en-US" sz="2000" dirty="0"/>
              <a:t>AWS detailed resource diagram</a:t>
            </a:r>
          </a:p>
        </p:txBody>
      </p:sp>
      <p:pic>
        <p:nvPicPr>
          <p:cNvPr id="4" name="Picture 3" descr="A diagram of a software project&#10;&#10;AI-generated content may be incorrect.">
            <a:extLst>
              <a:ext uri="{FF2B5EF4-FFF2-40B4-BE49-F238E27FC236}">
                <a16:creationId xmlns:a16="http://schemas.microsoft.com/office/drawing/2014/main" id="{507D9B8E-DACF-C48A-5982-DAC45DE7436C}"/>
              </a:ext>
            </a:extLst>
          </p:cNvPr>
          <p:cNvPicPr>
            <a:picLocks noChangeAspect="1"/>
          </p:cNvPicPr>
          <p:nvPr/>
        </p:nvPicPr>
        <p:blipFill>
          <a:blip r:embed="rId2"/>
          <a:stretch>
            <a:fillRect/>
          </a:stretch>
        </p:blipFill>
        <p:spPr>
          <a:xfrm>
            <a:off x="3946875" y="-3897"/>
            <a:ext cx="6539754" cy="6861897"/>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3D74A0AB-5272-EBD9-832F-585FDBCF9C07}"/>
              </a:ext>
            </a:extLst>
          </p:cNvPr>
          <p:cNvPicPr>
            <a:picLocks noChangeAspect="1"/>
          </p:cNvPicPr>
          <p:nvPr/>
        </p:nvPicPr>
        <p:blipFill>
          <a:blip r:embed="rId3"/>
          <a:stretch>
            <a:fillRect/>
          </a:stretch>
        </p:blipFill>
        <p:spPr>
          <a:xfrm>
            <a:off x="200103" y="751394"/>
            <a:ext cx="3424043" cy="5585646"/>
          </a:xfrm>
          <a:prstGeom prst="rect">
            <a:avLst/>
          </a:prstGeom>
        </p:spPr>
      </p:pic>
      <p:sp>
        <p:nvSpPr>
          <p:cNvPr id="3" name="Slide Number Placeholder 2">
            <a:extLst>
              <a:ext uri="{FF2B5EF4-FFF2-40B4-BE49-F238E27FC236}">
                <a16:creationId xmlns:a16="http://schemas.microsoft.com/office/drawing/2014/main" id="{45400538-38C9-8AE2-D256-91000EC5A032}"/>
              </a:ext>
            </a:extLst>
          </p:cNvPr>
          <p:cNvSpPr>
            <a:spLocks noGrp="1"/>
          </p:cNvSpPr>
          <p:nvPr>
            <p:ph type="sldNum" sz="quarter" idx="12"/>
          </p:nvPr>
        </p:nvSpPr>
        <p:spPr>
          <a:xfrm>
            <a:off x="11308558" y="6154477"/>
            <a:ext cx="683339" cy="365125"/>
          </a:xfrm>
        </p:spPr>
        <p:txBody>
          <a:bodyPr/>
          <a:lstStyle/>
          <a:p>
            <a:fld id="{4007D543-D9BA-1A48-A5FD-0DD23AC00E9F}" type="slidenum">
              <a:rPr lang="en-US" sz="2400" b="1" spc="50" smtClean="0">
                <a:ln w="9525" cmpd="sng">
                  <a:solidFill>
                    <a:schemeClr val="accent1"/>
                  </a:solidFill>
                  <a:prstDash val="solid"/>
                </a:ln>
                <a:solidFill>
                  <a:srgbClr val="70AD47">
                    <a:tint val="1000"/>
                  </a:srgbClr>
                </a:solidFill>
                <a:effectLst>
                  <a:glow rad="38100">
                    <a:schemeClr val="accent1">
                      <a:alpha val="40000"/>
                    </a:schemeClr>
                  </a:glow>
                </a:effectLst>
              </a:rPr>
              <a:t>17</a:t>
            </a:fld>
            <a:endParaRPr lang="en-US" sz="24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3016664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0CCB8-846D-8963-E678-B5C5242FA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4B4FF-3AB2-D57A-AA18-F41F7B98FF76}"/>
              </a:ext>
            </a:extLst>
          </p:cNvPr>
          <p:cNvSpPr>
            <a:spLocks noGrp="1"/>
          </p:cNvSpPr>
          <p:nvPr>
            <p:ph type="title"/>
          </p:nvPr>
        </p:nvSpPr>
        <p:spPr>
          <a:xfrm>
            <a:off x="0" y="0"/>
            <a:ext cx="8596668" cy="1320800"/>
          </a:xfrm>
        </p:spPr>
        <p:txBody>
          <a:bodyPr>
            <a:normAutofit/>
          </a:bodyPr>
          <a:lstStyle/>
          <a:p>
            <a:r>
              <a:rPr lang="en-US" sz="2000" b="1" dirty="0"/>
              <a:t>Report 5: </a:t>
            </a:r>
            <a:r>
              <a:rPr lang="en-US" sz="2000" dirty="0"/>
              <a:t>Test Strategy and acceptance criteria</a:t>
            </a:r>
          </a:p>
        </p:txBody>
      </p:sp>
      <p:graphicFrame>
        <p:nvGraphicFramePr>
          <p:cNvPr id="5" name="Table 4">
            <a:extLst>
              <a:ext uri="{FF2B5EF4-FFF2-40B4-BE49-F238E27FC236}">
                <a16:creationId xmlns:a16="http://schemas.microsoft.com/office/drawing/2014/main" id="{2354D60C-8D64-CFCD-C599-C984F72DE09C}"/>
              </a:ext>
            </a:extLst>
          </p:cNvPr>
          <p:cNvGraphicFramePr>
            <a:graphicFrameLocks noGrp="1"/>
          </p:cNvGraphicFramePr>
          <p:nvPr>
            <p:extLst>
              <p:ext uri="{D42A27DB-BD31-4B8C-83A1-F6EECF244321}">
                <p14:modId xmlns:p14="http://schemas.microsoft.com/office/powerpoint/2010/main" val="3729839615"/>
              </p:ext>
            </p:extLst>
          </p:nvPr>
        </p:nvGraphicFramePr>
        <p:xfrm>
          <a:off x="372475" y="2598234"/>
          <a:ext cx="11447049" cy="4090020"/>
        </p:xfrm>
        <a:graphic>
          <a:graphicData uri="http://schemas.openxmlformats.org/drawingml/2006/table">
            <a:tbl>
              <a:tblPr firstRow="1" firstCol="1" bandRow="1">
                <a:tableStyleId>{5C22544A-7EE6-4342-B048-85BDC9FD1C3A}</a:tableStyleId>
              </a:tblPr>
              <a:tblGrid>
                <a:gridCol w="1420539">
                  <a:extLst>
                    <a:ext uri="{9D8B030D-6E8A-4147-A177-3AD203B41FA5}">
                      <a16:colId xmlns:a16="http://schemas.microsoft.com/office/drawing/2014/main" val="2367131515"/>
                    </a:ext>
                  </a:extLst>
                </a:gridCol>
                <a:gridCol w="2211962">
                  <a:extLst>
                    <a:ext uri="{9D8B030D-6E8A-4147-A177-3AD203B41FA5}">
                      <a16:colId xmlns:a16="http://schemas.microsoft.com/office/drawing/2014/main" val="3442770161"/>
                    </a:ext>
                  </a:extLst>
                </a:gridCol>
                <a:gridCol w="1855505">
                  <a:extLst>
                    <a:ext uri="{9D8B030D-6E8A-4147-A177-3AD203B41FA5}">
                      <a16:colId xmlns:a16="http://schemas.microsoft.com/office/drawing/2014/main" val="4085757122"/>
                    </a:ext>
                  </a:extLst>
                </a:gridCol>
                <a:gridCol w="2284106">
                  <a:extLst>
                    <a:ext uri="{9D8B030D-6E8A-4147-A177-3AD203B41FA5}">
                      <a16:colId xmlns:a16="http://schemas.microsoft.com/office/drawing/2014/main" val="777708026"/>
                    </a:ext>
                  </a:extLst>
                </a:gridCol>
                <a:gridCol w="1847015">
                  <a:extLst>
                    <a:ext uri="{9D8B030D-6E8A-4147-A177-3AD203B41FA5}">
                      <a16:colId xmlns:a16="http://schemas.microsoft.com/office/drawing/2014/main" val="3154209423"/>
                    </a:ext>
                  </a:extLst>
                </a:gridCol>
                <a:gridCol w="1827922">
                  <a:extLst>
                    <a:ext uri="{9D8B030D-6E8A-4147-A177-3AD203B41FA5}">
                      <a16:colId xmlns:a16="http://schemas.microsoft.com/office/drawing/2014/main" val="2316083856"/>
                    </a:ext>
                  </a:extLst>
                </a:gridCol>
              </a:tblGrid>
              <a:tr h="291262">
                <a:tc>
                  <a:txBody>
                    <a:bodyPr/>
                    <a:lstStyle/>
                    <a:p>
                      <a:pPr>
                        <a:lnSpc>
                          <a:spcPct val="115000"/>
                        </a:lnSpc>
                        <a:spcBef>
                          <a:spcPts val="1200"/>
                        </a:spcBef>
                        <a:spcAft>
                          <a:spcPts val="1000"/>
                        </a:spcAft>
                        <a:buNone/>
                      </a:pPr>
                      <a:r>
                        <a:rPr lang="en-US" sz="1100" dirty="0">
                          <a:effectLst/>
                        </a:rPr>
                        <a:t>Test Level</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tc>
                  <a:txBody>
                    <a:bodyPr/>
                    <a:lstStyle/>
                    <a:p>
                      <a:pPr>
                        <a:lnSpc>
                          <a:spcPct val="115000"/>
                        </a:lnSpc>
                        <a:spcBef>
                          <a:spcPts val="1200"/>
                        </a:spcBef>
                        <a:spcAft>
                          <a:spcPts val="1000"/>
                        </a:spcAft>
                        <a:buNone/>
                      </a:pPr>
                      <a:r>
                        <a:rPr lang="en-US" sz="1100" dirty="0">
                          <a:effectLst/>
                        </a:rPr>
                        <a:t>Main Tasks </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tc>
                  <a:txBody>
                    <a:bodyPr/>
                    <a:lstStyle/>
                    <a:p>
                      <a:pPr>
                        <a:lnSpc>
                          <a:spcPct val="115000"/>
                        </a:lnSpc>
                        <a:spcBef>
                          <a:spcPts val="1200"/>
                        </a:spcBef>
                        <a:spcAft>
                          <a:spcPts val="1000"/>
                        </a:spcAft>
                        <a:buNone/>
                      </a:pPr>
                      <a:r>
                        <a:rPr lang="en-US" sz="1100" dirty="0">
                          <a:effectLst/>
                        </a:rPr>
                        <a:t>Entry Criteria </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tc>
                  <a:txBody>
                    <a:bodyPr/>
                    <a:lstStyle/>
                    <a:p>
                      <a:pPr>
                        <a:lnSpc>
                          <a:spcPct val="115000"/>
                        </a:lnSpc>
                        <a:spcBef>
                          <a:spcPts val="1200"/>
                        </a:spcBef>
                        <a:spcAft>
                          <a:spcPts val="1000"/>
                        </a:spcAft>
                        <a:buNone/>
                      </a:pPr>
                      <a:r>
                        <a:rPr lang="en-US" sz="1100" dirty="0">
                          <a:effectLst/>
                        </a:rPr>
                        <a:t>Suspension Criteria</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tc>
                  <a:txBody>
                    <a:bodyPr/>
                    <a:lstStyle/>
                    <a:p>
                      <a:pPr>
                        <a:lnSpc>
                          <a:spcPct val="115000"/>
                        </a:lnSpc>
                        <a:spcBef>
                          <a:spcPts val="1200"/>
                        </a:spcBef>
                        <a:spcAft>
                          <a:spcPts val="1000"/>
                        </a:spcAft>
                        <a:buNone/>
                      </a:pPr>
                      <a:r>
                        <a:rPr lang="en-US" sz="1100">
                          <a:effectLst/>
                        </a:rPr>
                        <a:t>Resumption Criteria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tc>
                  <a:txBody>
                    <a:bodyPr/>
                    <a:lstStyle/>
                    <a:p>
                      <a:pPr>
                        <a:lnSpc>
                          <a:spcPct val="115000"/>
                        </a:lnSpc>
                        <a:spcBef>
                          <a:spcPts val="1200"/>
                        </a:spcBef>
                        <a:spcAft>
                          <a:spcPts val="1000"/>
                        </a:spcAft>
                        <a:buNone/>
                      </a:pPr>
                      <a:r>
                        <a:rPr lang="en-US" sz="1100">
                          <a:effectLst/>
                        </a:rPr>
                        <a:t>Exit Criteria</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extLst>
                  <a:ext uri="{0D108BD9-81ED-4DB2-BD59-A6C34878D82A}">
                    <a16:rowId xmlns:a16="http://schemas.microsoft.com/office/drawing/2014/main" val="2779765052"/>
                  </a:ext>
                </a:extLst>
              </a:tr>
              <a:tr h="3798758">
                <a:tc>
                  <a:txBody>
                    <a:bodyPr/>
                    <a:lstStyle/>
                    <a:p>
                      <a:pPr>
                        <a:lnSpc>
                          <a:spcPct val="115000"/>
                        </a:lnSpc>
                        <a:spcBef>
                          <a:spcPts val="1200"/>
                        </a:spcBef>
                        <a:spcAft>
                          <a:spcPts val="1000"/>
                        </a:spcAft>
                        <a:buNone/>
                      </a:pPr>
                      <a:r>
                        <a:rPr lang="en-US" sz="1100" dirty="0">
                          <a:effectLst/>
                        </a:rPr>
                        <a:t>System Test</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tc>
                  <a:txBody>
                    <a:bodyPr/>
                    <a:lstStyle/>
                    <a:p>
                      <a:pPr>
                        <a:lnSpc>
                          <a:spcPct val="115000"/>
                        </a:lnSpc>
                        <a:spcBef>
                          <a:spcPts val="1200"/>
                        </a:spcBef>
                        <a:spcAft>
                          <a:spcPts val="1000"/>
                        </a:spcAft>
                        <a:buNone/>
                      </a:pPr>
                      <a:r>
                        <a:rPr lang="en-US" sz="1100" dirty="0">
                          <a:effectLst/>
                        </a:rPr>
                        <a:t>Verifying that the system operates as specified in the requirements                                                                                                                                                                                            specification</a:t>
                      </a:r>
                    </a:p>
                    <a:p>
                      <a:pPr>
                        <a:lnSpc>
                          <a:spcPct val="115000"/>
                        </a:lnSpc>
                        <a:spcBef>
                          <a:spcPts val="1200"/>
                        </a:spcBef>
                        <a:spcAft>
                          <a:spcPts val="1000"/>
                        </a:spcAft>
                        <a:buNone/>
                      </a:pPr>
                      <a:r>
                        <a:rPr lang="en-US" sz="1100" dirty="0">
                          <a:effectLst/>
                        </a:rPr>
                        <a:t>Achieving a certain level of system requirements coverage (80%)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tc>
                  <a:txBody>
                    <a:bodyPr/>
                    <a:lstStyle/>
                    <a:p>
                      <a:pPr>
                        <a:lnSpc>
                          <a:spcPct val="115000"/>
                        </a:lnSpc>
                        <a:spcBef>
                          <a:spcPts val="1200"/>
                        </a:spcBef>
                        <a:spcAft>
                          <a:spcPts val="1000"/>
                        </a:spcAft>
                        <a:buNone/>
                      </a:pPr>
                      <a:r>
                        <a:rPr lang="en-US" sz="1100">
                          <a:effectLst/>
                        </a:rPr>
                        <a:t>Successful completion of integration testing process.</a:t>
                      </a:r>
                    </a:p>
                    <a:p>
                      <a:pPr>
                        <a:lnSpc>
                          <a:spcPct val="115000"/>
                        </a:lnSpc>
                        <a:spcBef>
                          <a:spcPts val="1200"/>
                        </a:spcBef>
                        <a:spcAft>
                          <a:spcPts val="1000"/>
                        </a:spcAft>
                        <a:buNone/>
                      </a:pPr>
                      <a:r>
                        <a:rPr lang="en-US" sz="1100">
                          <a:effectLst/>
                        </a:rPr>
                        <a:t>Priority bugs found during previous testing activities has been fixed and closed.</a:t>
                      </a:r>
                    </a:p>
                    <a:p>
                      <a:pPr>
                        <a:lnSpc>
                          <a:spcPct val="115000"/>
                        </a:lnSpc>
                        <a:spcBef>
                          <a:spcPts val="1200"/>
                        </a:spcBef>
                        <a:spcAft>
                          <a:spcPts val="1000"/>
                        </a:spcAft>
                        <a:buNone/>
                      </a:pPr>
                      <a:r>
                        <a:rPr lang="en-US" sz="1100">
                          <a:effectLst/>
                        </a:rPr>
                        <a:t>- System testing environment is available.</a:t>
                      </a:r>
                    </a:p>
                    <a:p>
                      <a:pPr>
                        <a:lnSpc>
                          <a:spcPct val="115000"/>
                        </a:lnSpc>
                        <a:spcBef>
                          <a:spcPts val="1200"/>
                        </a:spcBef>
                        <a:spcAft>
                          <a:spcPts val="1000"/>
                        </a:spcAft>
                        <a:buNone/>
                      </a:pPr>
                      <a:r>
                        <a:rPr lang="en-US" sz="1100">
                          <a:effectLst/>
                        </a:rPr>
                        <a:t>- Test cases, test scripts, test data is ready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tc>
                  <a:txBody>
                    <a:bodyPr/>
                    <a:lstStyle/>
                    <a:p>
                      <a:pPr>
                        <a:lnSpc>
                          <a:spcPct val="115000"/>
                        </a:lnSpc>
                        <a:spcBef>
                          <a:spcPts val="1200"/>
                        </a:spcBef>
                        <a:spcAft>
                          <a:spcPts val="1000"/>
                        </a:spcAft>
                        <a:buNone/>
                      </a:pPr>
                      <a:r>
                        <a:rPr lang="en-US" sz="1100">
                          <a:effectLst/>
                        </a:rPr>
                        <a:t>The build contains many serious defects which seriously or limit testing progress.</a:t>
                      </a:r>
                    </a:p>
                    <a:p>
                      <a:pPr>
                        <a:lnSpc>
                          <a:spcPct val="115000"/>
                        </a:lnSpc>
                        <a:spcBef>
                          <a:spcPts val="1200"/>
                        </a:spcBef>
                        <a:spcAft>
                          <a:spcPts val="1000"/>
                        </a:spcAft>
                        <a:buNone/>
                      </a:pPr>
                      <a:r>
                        <a:rPr lang="en-US" sz="1100">
                          <a:effectLst/>
                        </a:rPr>
                        <a:t>- Significant change in requirements raised by client</a:t>
                      </a:r>
                    </a:p>
                    <a:p>
                      <a:pPr>
                        <a:lnSpc>
                          <a:spcPct val="115000"/>
                        </a:lnSpc>
                        <a:spcBef>
                          <a:spcPts val="1200"/>
                        </a:spcBef>
                        <a:spcAft>
                          <a:spcPts val="1000"/>
                        </a:spcAft>
                        <a:buNone/>
                      </a:pPr>
                      <a:r>
                        <a:rPr lang="en-US" sz="1100">
                          <a:effectLst/>
                        </a:rPr>
                        <a:t>- Software/Hardware problems</a:t>
                      </a:r>
                    </a:p>
                    <a:p>
                      <a:pPr>
                        <a:lnSpc>
                          <a:spcPct val="115000"/>
                        </a:lnSpc>
                        <a:spcBef>
                          <a:spcPts val="1200"/>
                        </a:spcBef>
                        <a:spcAft>
                          <a:spcPts val="1000"/>
                        </a:spcAft>
                        <a:buNone/>
                      </a:pPr>
                      <a:r>
                        <a:rPr lang="en-US" sz="1100">
                          <a:effectLst/>
                        </a:rPr>
                        <a:t>- Assigned resources are not available when needed by test team</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tc>
                  <a:txBody>
                    <a:bodyPr/>
                    <a:lstStyle/>
                    <a:p>
                      <a:pPr>
                        <a:lnSpc>
                          <a:spcPct val="115000"/>
                        </a:lnSpc>
                        <a:spcBef>
                          <a:spcPts val="1200"/>
                        </a:spcBef>
                        <a:spcAft>
                          <a:spcPts val="1000"/>
                        </a:spcAft>
                        <a:buNone/>
                      </a:pPr>
                      <a:r>
                        <a:rPr lang="en-US" sz="1100" dirty="0">
                          <a:effectLst/>
                        </a:rPr>
                        <a:t> Issue due to which suspension occurs gets resolved.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tc>
                  <a:txBody>
                    <a:bodyPr/>
                    <a:lstStyle/>
                    <a:p>
                      <a:pPr>
                        <a:lnSpc>
                          <a:spcPct val="115000"/>
                        </a:lnSpc>
                        <a:spcBef>
                          <a:spcPts val="1200"/>
                        </a:spcBef>
                        <a:spcAft>
                          <a:spcPts val="1000"/>
                        </a:spcAft>
                        <a:buNone/>
                      </a:pPr>
                      <a:r>
                        <a:rPr lang="en-US" sz="1100" dirty="0">
                          <a:effectLst/>
                        </a:rPr>
                        <a:t>All planned automated Test Cases have been executed 100% </a:t>
                      </a:r>
                    </a:p>
                    <a:p>
                      <a:pPr>
                        <a:lnSpc>
                          <a:spcPct val="115000"/>
                        </a:lnSpc>
                        <a:spcBef>
                          <a:spcPts val="1200"/>
                        </a:spcBef>
                        <a:spcAft>
                          <a:spcPts val="1000"/>
                        </a:spcAft>
                        <a:buNone/>
                      </a:pPr>
                      <a:r>
                        <a:rPr lang="en-US" sz="1100" dirty="0">
                          <a:effectLst/>
                        </a:rPr>
                        <a:t>- 100 % automated regression system test cases have to be passed</a:t>
                      </a:r>
                    </a:p>
                    <a:p>
                      <a:pPr>
                        <a:lnSpc>
                          <a:spcPct val="115000"/>
                        </a:lnSpc>
                        <a:spcBef>
                          <a:spcPts val="1200"/>
                        </a:spcBef>
                        <a:spcAft>
                          <a:spcPts val="1000"/>
                        </a:spcAft>
                        <a:buNone/>
                      </a:pPr>
                      <a:r>
                        <a:rPr lang="en-US" sz="1100" dirty="0">
                          <a:effectLst/>
                        </a:rPr>
                        <a:t>- Only Cosmetic defects can be accepted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896" marR="50896" marT="0" marB="0"/>
                </a:tc>
                <a:extLst>
                  <a:ext uri="{0D108BD9-81ED-4DB2-BD59-A6C34878D82A}">
                    <a16:rowId xmlns:a16="http://schemas.microsoft.com/office/drawing/2014/main" val="655315904"/>
                  </a:ext>
                </a:extLst>
              </a:tr>
            </a:tbl>
          </a:graphicData>
        </a:graphic>
      </p:graphicFrame>
      <p:graphicFrame>
        <p:nvGraphicFramePr>
          <p:cNvPr id="6" name="Table 5">
            <a:extLst>
              <a:ext uri="{FF2B5EF4-FFF2-40B4-BE49-F238E27FC236}">
                <a16:creationId xmlns:a16="http://schemas.microsoft.com/office/drawing/2014/main" id="{0D9B54DE-D47F-5908-2DCD-95490807F8B1}"/>
              </a:ext>
            </a:extLst>
          </p:cNvPr>
          <p:cNvGraphicFramePr>
            <a:graphicFrameLocks noGrp="1"/>
          </p:cNvGraphicFramePr>
          <p:nvPr>
            <p:extLst>
              <p:ext uri="{D42A27DB-BD31-4B8C-83A1-F6EECF244321}">
                <p14:modId xmlns:p14="http://schemas.microsoft.com/office/powerpoint/2010/main" val="4121983796"/>
              </p:ext>
            </p:extLst>
          </p:nvPr>
        </p:nvGraphicFramePr>
        <p:xfrm>
          <a:off x="1037063" y="451513"/>
          <a:ext cx="9656957" cy="1995755"/>
        </p:xfrm>
        <a:graphic>
          <a:graphicData uri="http://schemas.openxmlformats.org/drawingml/2006/table">
            <a:tbl>
              <a:tblPr firstRow="1" firstCol="1" bandRow="1">
                <a:tableStyleId>{5C22544A-7EE6-4342-B048-85BDC9FD1C3A}</a:tableStyleId>
              </a:tblPr>
              <a:tblGrid>
                <a:gridCol w="4574819">
                  <a:extLst>
                    <a:ext uri="{9D8B030D-6E8A-4147-A177-3AD203B41FA5}">
                      <a16:colId xmlns:a16="http://schemas.microsoft.com/office/drawing/2014/main" val="3936683182"/>
                    </a:ext>
                  </a:extLst>
                </a:gridCol>
                <a:gridCol w="5082138">
                  <a:extLst>
                    <a:ext uri="{9D8B030D-6E8A-4147-A177-3AD203B41FA5}">
                      <a16:colId xmlns:a16="http://schemas.microsoft.com/office/drawing/2014/main" val="1258565554"/>
                    </a:ext>
                  </a:extLst>
                </a:gridCol>
              </a:tblGrid>
              <a:tr h="220748">
                <a:tc>
                  <a:txBody>
                    <a:bodyPr/>
                    <a:lstStyle/>
                    <a:p>
                      <a:pPr algn="ctr">
                        <a:lnSpc>
                          <a:spcPct val="115000"/>
                        </a:lnSpc>
                        <a:spcAft>
                          <a:spcPts val="1000"/>
                        </a:spcAft>
                        <a:buNone/>
                      </a:pPr>
                      <a:r>
                        <a:rPr lang="en-US" sz="1100">
                          <a:effectLst/>
                        </a:rPr>
                        <a:t>Should automate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en-US" sz="1100" dirty="0">
                          <a:effectLst/>
                        </a:rPr>
                        <a:t>Should not automate or Low priority</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48679089"/>
                  </a:ext>
                </a:extLst>
              </a:tr>
              <a:tr h="1775007">
                <a:tc>
                  <a:txBody>
                    <a:bodyPr/>
                    <a:lstStyle/>
                    <a:p>
                      <a:pPr>
                        <a:lnSpc>
                          <a:spcPct val="115000"/>
                        </a:lnSpc>
                        <a:spcAft>
                          <a:spcPts val="1000"/>
                        </a:spcAft>
                        <a:buNone/>
                      </a:pPr>
                      <a:r>
                        <a:rPr lang="en-US" sz="1100" dirty="0">
                          <a:effectLst/>
                        </a:rPr>
                        <a:t>- High risk - Business critical test cases</a:t>
                      </a:r>
                      <a:br>
                        <a:rPr lang="en-US" sz="1100" dirty="0">
                          <a:effectLst/>
                        </a:rPr>
                      </a:br>
                      <a:r>
                        <a:rPr lang="en-US" sz="1100" dirty="0">
                          <a:effectLst/>
                        </a:rPr>
                        <a:t>- Test cases that are executed repeatedly</a:t>
                      </a:r>
                      <a:br>
                        <a:rPr lang="en-US" sz="1100" dirty="0">
                          <a:effectLst/>
                        </a:rPr>
                      </a:br>
                      <a:r>
                        <a:rPr lang="en-US" sz="1100" dirty="0">
                          <a:effectLst/>
                        </a:rPr>
                        <a:t>- Test cases that are very tedious or difficult to perform manually</a:t>
                      </a:r>
                      <a:br>
                        <a:rPr lang="en-US" sz="1100" dirty="0">
                          <a:effectLst/>
                        </a:rPr>
                      </a:br>
                      <a:r>
                        <a:rPr lang="en-US" sz="1100" dirty="0">
                          <a:effectLst/>
                        </a:rPr>
                        <a:t>- Test cases which are time consuming and need multiple data sets.</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100" dirty="0">
                          <a:effectLst/>
                        </a:rPr>
                        <a:t>- Test cases that are newly designed and not executed manually at least once</a:t>
                      </a:r>
                    </a:p>
                    <a:p>
                      <a:pPr>
                        <a:lnSpc>
                          <a:spcPct val="115000"/>
                        </a:lnSpc>
                        <a:spcAft>
                          <a:spcPts val="1000"/>
                        </a:spcAft>
                        <a:buNone/>
                      </a:pPr>
                      <a:r>
                        <a:rPr lang="en-US" sz="1100" dirty="0">
                          <a:effectLst/>
                        </a:rPr>
                        <a:t>- Test cases for which the requirements are changing frequently</a:t>
                      </a:r>
                    </a:p>
                    <a:p>
                      <a:pPr>
                        <a:lnSpc>
                          <a:spcPct val="115000"/>
                        </a:lnSpc>
                        <a:spcAft>
                          <a:spcPts val="1000"/>
                        </a:spcAft>
                        <a:buNone/>
                      </a:pPr>
                      <a:r>
                        <a:rPr lang="en-US" sz="1100" dirty="0">
                          <a:effectLst/>
                        </a:rPr>
                        <a:t>- Test cases which are executed on ad-hoc basis</a:t>
                      </a:r>
                    </a:p>
                    <a:p>
                      <a:pPr>
                        <a:lnSpc>
                          <a:spcPct val="115000"/>
                        </a:lnSpc>
                        <a:spcAft>
                          <a:spcPts val="1000"/>
                        </a:spcAft>
                        <a:buNone/>
                      </a:pPr>
                      <a:r>
                        <a:rPr lang="en-US" sz="1100" dirty="0">
                          <a:effectLst/>
                        </a:rPr>
                        <a:t>- Test cases that are extremely complex</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01028153"/>
                  </a:ext>
                </a:extLst>
              </a:tr>
            </a:tbl>
          </a:graphicData>
        </a:graphic>
      </p:graphicFrame>
      <p:sp>
        <p:nvSpPr>
          <p:cNvPr id="3" name="Slide Number Placeholder 2">
            <a:extLst>
              <a:ext uri="{FF2B5EF4-FFF2-40B4-BE49-F238E27FC236}">
                <a16:creationId xmlns:a16="http://schemas.microsoft.com/office/drawing/2014/main" id="{9B270BA9-2B07-9DD0-723E-BEAC7932CF0F}"/>
              </a:ext>
            </a:extLst>
          </p:cNvPr>
          <p:cNvSpPr>
            <a:spLocks noGrp="1"/>
          </p:cNvSpPr>
          <p:nvPr>
            <p:ph type="sldNum" sz="quarter" idx="12"/>
          </p:nvPr>
        </p:nvSpPr>
        <p:spPr/>
        <p:txBody>
          <a:bodyPr/>
          <a:lstStyle/>
          <a:p>
            <a:fld id="{4007D543-D9BA-1A48-A5FD-0DD23AC00E9F}" type="slidenum">
              <a:rPr lang="en-US" sz="2400" smtClean="0"/>
              <a:t>18</a:t>
            </a:fld>
            <a:endParaRPr lang="en-US" sz="2400" dirty="0"/>
          </a:p>
        </p:txBody>
      </p:sp>
    </p:spTree>
    <p:extLst>
      <p:ext uri="{BB962C8B-B14F-4D97-AF65-F5344CB8AC3E}">
        <p14:creationId xmlns:p14="http://schemas.microsoft.com/office/powerpoint/2010/main" val="3052817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CE4BF-22B3-5AE5-F4AC-297017325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0113E5-7BBF-CDC4-0D07-6AB1DF42B719}"/>
              </a:ext>
            </a:extLst>
          </p:cNvPr>
          <p:cNvSpPr>
            <a:spLocks noGrp="1"/>
          </p:cNvSpPr>
          <p:nvPr>
            <p:ph type="title"/>
          </p:nvPr>
        </p:nvSpPr>
        <p:spPr>
          <a:xfrm>
            <a:off x="0" y="0"/>
            <a:ext cx="8596668" cy="1320800"/>
          </a:xfrm>
        </p:spPr>
        <p:txBody>
          <a:bodyPr>
            <a:normAutofit/>
          </a:bodyPr>
          <a:lstStyle/>
          <a:p>
            <a:r>
              <a:rPr lang="en-US" sz="2000" b="1" u="sng" dirty="0"/>
              <a:t>Report 5: </a:t>
            </a:r>
            <a:r>
              <a:rPr lang="en-US" sz="2000" dirty="0"/>
              <a:t>Test Case List – Detailed Test Case</a:t>
            </a:r>
          </a:p>
        </p:txBody>
      </p:sp>
      <p:pic>
        <p:nvPicPr>
          <p:cNvPr id="5" name="Picture 4" descr="A screenshot of a computer&#10;&#10;AI-generated content may be incorrect.">
            <a:extLst>
              <a:ext uri="{FF2B5EF4-FFF2-40B4-BE49-F238E27FC236}">
                <a16:creationId xmlns:a16="http://schemas.microsoft.com/office/drawing/2014/main" id="{C45C39E1-AF53-2904-9790-1E1EAA1F1941}"/>
              </a:ext>
            </a:extLst>
          </p:cNvPr>
          <p:cNvPicPr>
            <a:picLocks noChangeAspect="1"/>
          </p:cNvPicPr>
          <p:nvPr/>
        </p:nvPicPr>
        <p:blipFill>
          <a:blip r:embed="rId2"/>
          <a:stretch>
            <a:fillRect/>
          </a:stretch>
        </p:blipFill>
        <p:spPr>
          <a:xfrm>
            <a:off x="5660708" y="0"/>
            <a:ext cx="6160551" cy="2915994"/>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947A2267-7EFF-209F-4986-FA008E1E7701}"/>
              </a:ext>
            </a:extLst>
          </p:cNvPr>
          <p:cNvPicPr>
            <a:picLocks noChangeAspect="1"/>
          </p:cNvPicPr>
          <p:nvPr/>
        </p:nvPicPr>
        <p:blipFill>
          <a:blip r:embed="rId3"/>
          <a:stretch>
            <a:fillRect/>
          </a:stretch>
        </p:blipFill>
        <p:spPr>
          <a:xfrm>
            <a:off x="5955312" y="2610082"/>
            <a:ext cx="6236688" cy="3957987"/>
          </a:xfrm>
          <a:prstGeom prst="rect">
            <a:avLst/>
          </a:prstGeom>
        </p:spPr>
      </p:pic>
      <p:sp>
        <p:nvSpPr>
          <p:cNvPr id="3" name="Slide Number Placeholder 2">
            <a:extLst>
              <a:ext uri="{FF2B5EF4-FFF2-40B4-BE49-F238E27FC236}">
                <a16:creationId xmlns:a16="http://schemas.microsoft.com/office/drawing/2014/main" id="{E7297F11-B64A-6813-7D89-643F9C2AD370}"/>
              </a:ext>
            </a:extLst>
          </p:cNvPr>
          <p:cNvSpPr>
            <a:spLocks noGrp="1"/>
          </p:cNvSpPr>
          <p:nvPr>
            <p:ph type="sldNum" sz="quarter" idx="12"/>
          </p:nvPr>
        </p:nvSpPr>
        <p:spPr>
          <a:xfrm>
            <a:off x="11137920" y="6202944"/>
            <a:ext cx="683339" cy="365125"/>
          </a:xfrm>
        </p:spPr>
        <p:txBody>
          <a:bodyPr/>
          <a:lstStyle/>
          <a:p>
            <a:fld id="{4007D543-D9BA-1A48-A5FD-0DD23AC00E9F}" type="slidenum">
              <a:rPr lang="en-US" sz="2400" smtClean="0"/>
              <a:t>19</a:t>
            </a:fld>
            <a:endParaRPr lang="en-US" sz="2400" dirty="0"/>
          </a:p>
        </p:txBody>
      </p:sp>
      <p:graphicFrame>
        <p:nvGraphicFramePr>
          <p:cNvPr id="7" name="Table 6">
            <a:extLst>
              <a:ext uri="{FF2B5EF4-FFF2-40B4-BE49-F238E27FC236}">
                <a16:creationId xmlns:a16="http://schemas.microsoft.com/office/drawing/2014/main" id="{5A2D16E4-9226-EA78-AA99-6C12BCA414AA}"/>
              </a:ext>
            </a:extLst>
          </p:cNvPr>
          <p:cNvGraphicFramePr>
            <a:graphicFrameLocks noGrp="1"/>
          </p:cNvGraphicFramePr>
          <p:nvPr>
            <p:extLst>
              <p:ext uri="{D42A27DB-BD31-4B8C-83A1-F6EECF244321}">
                <p14:modId xmlns:p14="http://schemas.microsoft.com/office/powerpoint/2010/main" val="3217707272"/>
              </p:ext>
            </p:extLst>
          </p:nvPr>
        </p:nvGraphicFramePr>
        <p:xfrm>
          <a:off x="370741" y="343037"/>
          <a:ext cx="5216020" cy="6493462"/>
        </p:xfrm>
        <a:graphic>
          <a:graphicData uri="http://schemas.openxmlformats.org/drawingml/2006/table">
            <a:tbl>
              <a:tblPr firstRow="1" firstCol="1" bandRow="1">
                <a:tableStyleId>{5C22544A-7EE6-4342-B048-85BDC9FD1C3A}</a:tableStyleId>
              </a:tblPr>
              <a:tblGrid>
                <a:gridCol w="751705">
                  <a:extLst>
                    <a:ext uri="{9D8B030D-6E8A-4147-A177-3AD203B41FA5}">
                      <a16:colId xmlns:a16="http://schemas.microsoft.com/office/drawing/2014/main" val="2746028670"/>
                    </a:ext>
                  </a:extLst>
                </a:gridCol>
                <a:gridCol w="3494589">
                  <a:extLst>
                    <a:ext uri="{9D8B030D-6E8A-4147-A177-3AD203B41FA5}">
                      <a16:colId xmlns:a16="http://schemas.microsoft.com/office/drawing/2014/main" val="2525284816"/>
                    </a:ext>
                  </a:extLst>
                </a:gridCol>
                <a:gridCol w="969726">
                  <a:extLst>
                    <a:ext uri="{9D8B030D-6E8A-4147-A177-3AD203B41FA5}">
                      <a16:colId xmlns:a16="http://schemas.microsoft.com/office/drawing/2014/main" val="1959959785"/>
                    </a:ext>
                  </a:extLst>
                </a:gridCol>
              </a:tblGrid>
              <a:tr h="197393">
                <a:tc>
                  <a:txBody>
                    <a:bodyPr/>
                    <a:lstStyle/>
                    <a:p>
                      <a:pPr algn="ctr">
                        <a:lnSpc>
                          <a:spcPct val="115000"/>
                        </a:lnSpc>
                        <a:spcBef>
                          <a:spcPts val="1200"/>
                        </a:spcBef>
                        <a:spcAft>
                          <a:spcPts val="1000"/>
                        </a:spcAft>
                        <a:buNone/>
                      </a:pPr>
                      <a:r>
                        <a:rPr lang="en-US" sz="1200" dirty="0">
                          <a:effectLst/>
                        </a:rPr>
                        <a:t>TC ID</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dirty="0">
                          <a:effectLst/>
                        </a:rPr>
                        <a:t>Function Name</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vi-VN" sz="1200">
                          <a:effectLst/>
                        </a:rPr>
                        <a:t>R</a:t>
                      </a:r>
                      <a:r>
                        <a:rPr lang="en-US" sz="1200">
                          <a:effectLst/>
                        </a:rPr>
                        <a:t>esult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654255566"/>
                  </a:ext>
                </a:extLst>
              </a:tr>
              <a:tr h="185760">
                <a:tc>
                  <a:txBody>
                    <a:bodyPr/>
                    <a:lstStyle/>
                    <a:p>
                      <a:pPr algn="ctr">
                        <a:lnSpc>
                          <a:spcPct val="115000"/>
                        </a:lnSpc>
                        <a:spcBef>
                          <a:spcPts val="1200"/>
                        </a:spcBef>
                        <a:spcAft>
                          <a:spcPts val="1000"/>
                        </a:spcAft>
                        <a:buNone/>
                      </a:pPr>
                      <a:r>
                        <a:rPr lang="en-US" sz="1200" dirty="0">
                          <a:effectLst/>
                        </a:rPr>
                        <a:t>AT01</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Admin log in with incorrect credentials</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3060546400"/>
                  </a:ext>
                </a:extLst>
              </a:tr>
              <a:tr h="185760">
                <a:tc>
                  <a:txBody>
                    <a:bodyPr/>
                    <a:lstStyle/>
                    <a:p>
                      <a:pPr algn="ctr">
                        <a:lnSpc>
                          <a:spcPct val="115000"/>
                        </a:lnSpc>
                        <a:spcBef>
                          <a:spcPts val="1200"/>
                        </a:spcBef>
                        <a:spcAft>
                          <a:spcPts val="1000"/>
                        </a:spcAft>
                        <a:buNone/>
                      </a:pPr>
                      <a:r>
                        <a:rPr lang="en-US" sz="1200">
                          <a:effectLst/>
                        </a:rPr>
                        <a:t>AT02</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Admin log in with correct credentials</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2130339604"/>
                  </a:ext>
                </a:extLst>
              </a:tr>
              <a:tr h="185760">
                <a:tc>
                  <a:txBody>
                    <a:bodyPr/>
                    <a:lstStyle/>
                    <a:p>
                      <a:pPr algn="ctr">
                        <a:lnSpc>
                          <a:spcPct val="115000"/>
                        </a:lnSpc>
                        <a:spcBef>
                          <a:spcPts val="1200"/>
                        </a:spcBef>
                        <a:spcAft>
                          <a:spcPts val="1000"/>
                        </a:spcAft>
                        <a:buNone/>
                      </a:pPr>
                      <a:r>
                        <a:rPr lang="en-US" sz="1200">
                          <a:effectLst/>
                        </a:rPr>
                        <a:t>AT03</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Admin search with available result </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3447251086"/>
                  </a:ext>
                </a:extLst>
              </a:tr>
              <a:tr h="185760">
                <a:tc>
                  <a:txBody>
                    <a:bodyPr/>
                    <a:lstStyle/>
                    <a:p>
                      <a:pPr algn="ctr">
                        <a:lnSpc>
                          <a:spcPct val="115000"/>
                        </a:lnSpc>
                        <a:spcBef>
                          <a:spcPts val="1200"/>
                        </a:spcBef>
                        <a:spcAft>
                          <a:spcPts val="1000"/>
                        </a:spcAft>
                        <a:buNone/>
                      </a:pPr>
                      <a:r>
                        <a:rPr lang="en-US" sz="1200">
                          <a:effectLst/>
                        </a:rPr>
                        <a:t>AT04</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Admin search with no results</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1738291203"/>
                  </a:ext>
                </a:extLst>
              </a:tr>
              <a:tr h="185760">
                <a:tc>
                  <a:txBody>
                    <a:bodyPr/>
                    <a:lstStyle/>
                    <a:p>
                      <a:pPr algn="ctr">
                        <a:lnSpc>
                          <a:spcPct val="115000"/>
                        </a:lnSpc>
                        <a:spcBef>
                          <a:spcPts val="1200"/>
                        </a:spcBef>
                        <a:spcAft>
                          <a:spcPts val="1000"/>
                        </a:spcAft>
                        <a:buNone/>
                      </a:pPr>
                      <a:r>
                        <a:rPr lang="en-US" sz="1200">
                          <a:effectLst/>
                        </a:rPr>
                        <a:t>AT05</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Admin add new book success</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b"/>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184791183"/>
                  </a:ext>
                </a:extLst>
              </a:tr>
              <a:tr h="185760">
                <a:tc>
                  <a:txBody>
                    <a:bodyPr/>
                    <a:lstStyle/>
                    <a:p>
                      <a:pPr algn="ctr">
                        <a:lnSpc>
                          <a:spcPct val="115000"/>
                        </a:lnSpc>
                        <a:spcBef>
                          <a:spcPts val="1200"/>
                        </a:spcBef>
                        <a:spcAft>
                          <a:spcPts val="1000"/>
                        </a:spcAft>
                        <a:buNone/>
                      </a:pPr>
                      <a:r>
                        <a:rPr lang="en-US" sz="1200">
                          <a:effectLst/>
                        </a:rPr>
                        <a:t>AT06</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Admin add new book failure</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559524898"/>
                  </a:ext>
                </a:extLst>
              </a:tr>
              <a:tr h="185760">
                <a:tc>
                  <a:txBody>
                    <a:bodyPr/>
                    <a:lstStyle/>
                    <a:p>
                      <a:pPr algn="ctr">
                        <a:lnSpc>
                          <a:spcPct val="115000"/>
                        </a:lnSpc>
                        <a:spcBef>
                          <a:spcPts val="1200"/>
                        </a:spcBef>
                        <a:spcAft>
                          <a:spcPts val="1000"/>
                        </a:spcAft>
                        <a:buNone/>
                      </a:pPr>
                      <a:r>
                        <a:rPr lang="en-US" sz="1200">
                          <a:effectLst/>
                        </a:rPr>
                        <a:t>AT07</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Admin edit book details</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1785573812"/>
                  </a:ext>
                </a:extLst>
              </a:tr>
              <a:tr h="185760">
                <a:tc>
                  <a:txBody>
                    <a:bodyPr/>
                    <a:lstStyle/>
                    <a:p>
                      <a:pPr algn="ctr">
                        <a:lnSpc>
                          <a:spcPct val="115000"/>
                        </a:lnSpc>
                        <a:spcBef>
                          <a:spcPts val="1200"/>
                        </a:spcBef>
                        <a:spcAft>
                          <a:spcPts val="1000"/>
                        </a:spcAft>
                        <a:buNone/>
                      </a:pPr>
                      <a:r>
                        <a:rPr lang="en-US" sz="1200">
                          <a:effectLst/>
                        </a:rPr>
                        <a:t>AT08</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Admin delete book</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3311913074"/>
                  </a:ext>
                </a:extLst>
              </a:tr>
              <a:tr h="185760">
                <a:tc>
                  <a:txBody>
                    <a:bodyPr/>
                    <a:lstStyle/>
                    <a:p>
                      <a:pPr algn="ctr">
                        <a:lnSpc>
                          <a:spcPct val="115000"/>
                        </a:lnSpc>
                        <a:spcBef>
                          <a:spcPts val="1200"/>
                        </a:spcBef>
                        <a:spcAft>
                          <a:spcPts val="1000"/>
                        </a:spcAft>
                        <a:buNone/>
                      </a:pPr>
                      <a:r>
                        <a:rPr lang="en-US" sz="1200">
                          <a:effectLst/>
                        </a:rPr>
                        <a:t>AT09</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dirty="0">
                          <a:effectLst/>
                        </a:rPr>
                        <a:t>Admin log out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1732753213"/>
                  </a:ext>
                </a:extLst>
              </a:tr>
              <a:tr h="185760">
                <a:tc>
                  <a:txBody>
                    <a:bodyPr/>
                    <a:lstStyle/>
                    <a:p>
                      <a:pPr algn="ctr">
                        <a:lnSpc>
                          <a:spcPct val="115000"/>
                        </a:lnSpc>
                        <a:spcBef>
                          <a:spcPts val="1200"/>
                        </a:spcBef>
                        <a:spcAft>
                          <a:spcPts val="1000"/>
                        </a:spcAft>
                        <a:buNone/>
                      </a:pPr>
                      <a:r>
                        <a:rPr lang="en-US" sz="1200">
                          <a:effectLst/>
                        </a:rPr>
                        <a:t>AT10</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User search with available results</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3137169769"/>
                  </a:ext>
                </a:extLst>
              </a:tr>
              <a:tr h="185760">
                <a:tc>
                  <a:txBody>
                    <a:bodyPr/>
                    <a:lstStyle/>
                    <a:p>
                      <a:pPr algn="ctr">
                        <a:lnSpc>
                          <a:spcPct val="115000"/>
                        </a:lnSpc>
                        <a:spcBef>
                          <a:spcPts val="1200"/>
                        </a:spcBef>
                        <a:spcAft>
                          <a:spcPts val="1000"/>
                        </a:spcAft>
                        <a:buNone/>
                      </a:pPr>
                      <a:r>
                        <a:rPr lang="en-US" sz="1200">
                          <a:effectLst/>
                        </a:rPr>
                        <a:t>AT11</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User search with no results</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2095563590"/>
                  </a:ext>
                </a:extLst>
              </a:tr>
              <a:tr h="185760">
                <a:tc>
                  <a:txBody>
                    <a:bodyPr/>
                    <a:lstStyle/>
                    <a:p>
                      <a:pPr algn="ctr">
                        <a:lnSpc>
                          <a:spcPct val="115000"/>
                        </a:lnSpc>
                        <a:spcBef>
                          <a:spcPts val="1200"/>
                        </a:spcBef>
                        <a:spcAft>
                          <a:spcPts val="1000"/>
                        </a:spcAft>
                        <a:buNone/>
                      </a:pPr>
                      <a:r>
                        <a:rPr lang="en-US" sz="1200">
                          <a:effectLst/>
                        </a:rPr>
                        <a:t>AT12A</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User adds single product to cart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1152200191"/>
                  </a:ext>
                </a:extLst>
              </a:tr>
              <a:tr h="185760">
                <a:tc>
                  <a:txBody>
                    <a:bodyPr/>
                    <a:lstStyle/>
                    <a:p>
                      <a:pPr algn="ctr">
                        <a:lnSpc>
                          <a:spcPct val="115000"/>
                        </a:lnSpc>
                        <a:spcBef>
                          <a:spcPts val="1200"/>
                        </a:spcBef>
                        <a:spcAft>
                          <a:spcPts val="1000"/>
                        </a:spcAft>
                        <a:buNone/>
                      </a:pPr>
                      <a:r>
                        <a:rPr lang="en-US" sz="1200">
                          <a:effectLst/>
                        </a:rPr>
                        <a:t>AT12B</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User removes from cart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470057482"/>
                  </a:ext>
                </a:extLst>
              </a:tr>
              <a:tr h="185760">
                <a:tc>
                  <a:txBody>
                    <a:bodyPr/>
                    <a:lstStyle/>
                    <a:p>
                      <a:pPr algn="ctr">
                        <a:lnSpc>
                          <a:spcPct val="115000"/>
                        </a:lnSpc>
                        <a:spcBef>
                          <a:spcPts val="1200"/>
                        </a:spcBef>
                        <a:spcAft>
                          <a:spcPts val="1000"/>
                        </a:spcAft>
                        <a:buNone/>
                      </a:pPr>
                      <a:r>
                        <a:rPr lang="en-US" sz="1200">
                          <a:effectLst/>
                        </a:rPr>
                        <a:t>AT13A</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User adds multiple products to cart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3199070463"/>
                  </a:ext>
                </a:extLst>
              </a:tr>
              <a:tr h="185760">
                <a:tc>
                  <a:txBody>
                    <a:bodyPr/>
                    <a:lstStyle/>
                    <a:p>
                      <a:pPr algn="ctr">
                        <a:lnSpc>
                          <a:spcPct val="115000"/>
                        </a:lnSpc>
                        <a:spcBef>
                          <a:spcPts val="1200"/>
                        </a:spcBef>
                        <a:spcAft>
                          <a:spcPts val="1000"/>
                        </a:spcAft>
                        <a:buNone/>
                      </a:pPr>
                      <a:r>
                        <a:rPr lang="en-US" sz="1200">
                          <a:effectLst/>
                        </a:rPr>
                        <a:t>AT13B</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User deletes all from cart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1358803113"/>
                  </a:ext>
                </a:extLst>
              </a:tr>
              <a:tr h="185760">
                <a:tc>
                  <a:txBody>
                    <a:bodyPr/>
                    <a:lstStyle/>
                    <a:p>
                      <a:pPr algn="ctr">
                        <a:lnSpc>
                          <a:spcPct val="115000"/>
                        </a:lnSpc>
                        <a:spcBef>
                          <a:spcPts val="1200"/>
                        </a:spcBef>
                        <a:spcAft>
                          <a:spcPts val="1000"/>
                        </a:spcAft>
                        <a:buNone/>
                      </a:pPr>
                      <a:r>
                        <a:rPr lang="en-US" sz="1200">
                          <a:effectLst/>
                        </a:rPr>
                        <a:t>AT14A</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User checks out when there is one book in cart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2100493779"/>
                  </a:ext>
                </a:extLst>
              </a:tr>
              <a:tr h="333115">
                <a:tc>
                  <a:txBody>
                    <a:bodyPr/>
                    <a:lstStyle/>
                    <a:p>
                      <a:pPr algn="ctr">
                        <a:lnSpc>
                          <a:spcPct val="115000"/>
                        </a:lnSpc>
                        <a:spcBef>
                          <a:spcPts val="1200"/>
                        </a:spcBef>
                        <a:spcAft>
                          <a:spcPts val="1000"/>
                        </a:spcAft>
                        <a:buNone/>
                      </a:pPr>
                      <a:r>
                        <a:rPr lang="en-US" sz="1200">
                          <a:effectLst/>
                        </a:rPr>
                        <a:t>AT14B</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dirty="0">
                          <a:effectLst/>
                        </a:rPr>
                        <a:t>Admin view order details with one book in cart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451264575"/>
                  </a:ext>
                </a:extLst>
              </a:tr>
              <a:tr h="185760">
                <a:tc>
                  <a:txBody>
                    <a:bodyPr/>
                    <a:lstStyle/>
                    <a:p>
                      <a:pPr algn="ctr">
                        <a:lnSpc>
                          <a:spcPct val="115000"/>
                        </a:lnSpc>
                        <a:spcBef>
                          <a:spcPts val="1200"/>
                        </a:spcBef>
                        <a:spcAft>
                          <a:spcPts val="1000"/>
                        </a:spcAft>
                        <a:buNone/>
                      </a:pPr>
                      <a:r>
                        <a:rPr lang="en-US" sz="1200">
                          <a:effectLst/>
                        </a:rPr>
                        <a:t>AT14C</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User checks out when there are two books in cart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1113522908"/>
                  </a:ext>
                </a:extLst>
              </a:tr>
              <a:tr h="333115">
                <a:tc>
                  <a:txBody>
                    <a:bodyPr/>
                    <a:lstStyle/>
                    <a:p>
                      <a:pPr algn="ctr">
                        <a:lnSpc>
                          <a:spcPct val="115000"/>
                        </a:lnSpc>
                        <a:spcBef>
                          <a:spcPts val="1200"/>
                        </a:spcBef>
                        <a:spcAft>
                          <a:spcPts val="1000"/>
                        </a:spcAft>
                        <a:buNone/>
                      </a:pPr>
                      <a:r>
                        <a:rPr lang="en-US" sz="1200">
                          <a:effectLst/>
                        </a:rPr>
                        <a:t>AT14D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dirty="0">
                          <a:effectLst/>
                        </a:rPr>
                        <a:t>Admin view order details with two books in cart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1247098730"/>
                  </a:ext>
                </a:extLst>
              </a:tr>
              <a:tr h="222302">
                <a:tc>
                  <a:txBody>
                    <a:bodyPr/>
                    <a:lstStyle/>
                    <a:p>
                      <a:pPr algn="ctr">
                        <a:lnSpc>
                          <a:spcPct val="115000"/>
                        </a:lnSpc>
                        <a:spcBef>
                          <a:spcPts val="1200"/>
                        </a:spcBef>
                        <a:spcAft>
                          <a:spcPts val="1000"/>
                        </a:spcAft>
                        <a:buNone/>
                      </a:pPr>
                      <a:r>
                        <a:rPr lang="en-US" sz="1200">
                          <a:effectLst/>
                        </a:rPr>
                        <a:t>CICD01</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fr-FR" sz="1200">
                          <a:effectLst/>
                        </a:rPr>
                        <a:t>Change app codes – automation 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2333596321"/>
                  </a:ext>
                </a:extLst>
              </a:tr>
              <a:tr h="212433">
                <a:tc>
                  <a:txBody>
                    <a:bodyPr/>
                    <a:lstStyle/>
                    <a:p>
                      <a:pPr algn="ctr">
                        <a:lnSpc>
                          <a:spcPct val="115000"/>
                        </a:lnSpc>
                        <a:spcBef>
                          <a:spcPts val="1200"/>
                        </a:spcBef>
                        <a:spcAft>
                          <a:spcPts val="1000"/>
                        </a:spcAft>
                        <a:buNone/>
                      </a:pPr>
                      <a:r>
                        <a:rPr lang="en-US" sz="1200">
                          <a:effectLst/>
                        </a:rPr>
                        <a:t>CICD02</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fr-FR" sz="1200">
                          <a:effectLst/>
                        </a:rPr>
                        <a:t>Change app codes – automation Failed </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3288404852"/>
                  </a:ext>
                </a:extLst>
              </a:tr>
              <a:tr h="233583">
                <a:tc>
                  <a:txBody>
                    <a:bodyPr/>
                    <a:lstStyle/>
                    <a:p>
                      <a:pPr algn="ctr">
                        <a:lnSpc>
                          <a:spcPct val="115000"/>
                        </a:lnSpc>
                        <a:spcBef>
                          <a:spcPts val="1200"/>
                        </a:spcBef>
                        <a:spcAft>
                          <a:spcPts val="1000"/>
                        </a:spcAft>
                        <a:buNone/>
                      </a:pPr>
                      <a:r>
                        <a:rPr lang="en-US" sz="1200">
                          <a:effectLst/>
                        </a:rPr>
                        <a:t>CICD03</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Change Automation code – Test 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3991952693"/>
                  </a:ext>
                </a:extLst>
              </a:tr>
              <a:tr h="196924">
                <a:tc>
                  <a:txBody>
                    <a:bodyPr/>
                    <a:lstStyle/>
                    <a:p>
                      <a:pPr algn="ctr">
                        <a:lnSpc>
                          <a:spcPct val="115000"/>
                        </a:lnSpc>
                        <a:spcBef>
                          <a:spcPts val="1200"/>
                        </a:spcBef>
                        <a:spcAft>
                          <a:spcPts val="1000"/>
                        </a:spcAft>
                        <a:buNone/>
                      </a:pPr>
                      <a:r>
                        <a:rPr lang="en-US" sz="1200">
                          <a:effectLst/>
                        </a:rPr>
                        <a:t>CICD04</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Change Automation code – Test Failed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4293691267"/>
                  </a:ext>
                </a:extLst>
              </a:tr>
              <a:tr h="185760">
                <a:tc>
                  <a:txBody>
                    <a:bodyPr/>
                    <a:lstStyle/>
                    <a:p>
                      <a:pPr algn="ctr">
                        <a:lnSpc>
                          <a:spcPct val="115000"/>
                        </a:lnSpc>
                        <a:spcBef>
                          <a:spcPts val="1200"/>
                        </a:spcBef>
                        <a:spcAft>
                          <a:spcPts val="1000"/>
                        </a:spcAft>
                        <a:buNone/>
                      </a:pPr>
                      <a:r>
                        <a:rPr lang="en-US" sz="1200">
                          <a:effectLst/>
                        </a:rPr>
                        <a:t>CICD05</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Trigger Redeployment - Manual Release</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2377759487"/>
                  </a:ext>
                </a:extLst>
              </a:tr>
              <a:tr h="384164">
                <a:tc>
                  <a:txBody>
                    <a:bodyPr/>
                    <a:lstStyle/>
                    <a:p>
                      <a:pPr algn="ctr">
                        <a:lnSpc>
                          <a:spcPct val="115000"/>
                        </a:lnSpc>
                        <a:spcBef>
                          <a:spcPts val="1200"/>
                        </a:spcBef>
                        <a:spcAft>
                          <a:spcPts val="1000"/>
                        </a:spcAft>
                        <a:buNone/>
                      </a:pPr>
                      <a:r>
                        <a:rPr lang="en-US" sz="1200">
                          <a:effectLst/>
                        </a:rPr>
                        <a:t>CICD06</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Change AWS infrastructure configuration (Add new environment)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256011792"/>
                  </a:ext>
                </a:extLst>
              </a:tr>
              <a:tr h="384164">
                <a:tc>
                  <a:txBody>
                    <a:bodyPr/>
                    <a:lstStyle/>
                    <a:p>
                      <a:pPr algn="ctr">
                        <a:lnSpc>
                          <a:spcPct val="115000"/>
                        </a:lnSpc>
                        <a:spcBef>
                          <a:spcPts val="1200"/>
                        </a:spcBef>
                        <a:spcAft>
                          <a:spcPts val="1000"/>
                        </a:spcAft>
                        <a:buNone/>
                      </a:pPr>
                      <a:r>
                        <a:rPr lang="en-US" sz="1200">
                          <a:effectLst/>
                        </a:rPr>
                        <a:t>CICD07</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Change AWS infrastructure configuration (production EC2 counts)</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a:effectLst/>
                        </a:rPr>
                        <a:t>Passed</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1105913858"/>
                  </a:ext>
                </a:extLst>
              </a:tr>
              <a:tr h="384164">
                <a:tc>
                  <a:txBody>
                    <a:bodyPr/>
                    <a:lstStyle/>
                    <a:p>
                      <a:pPr algn="ctr">
                        <a:lnSpc>
                          <a:spcPct val="115000"/>
                        </a:lnSpc>
                        <a:spcBef>
                          <a:spcPts val="1200"/>
                        </a:spcBef>
                        <a:spcAft>
                          <a:spcPts val="1000"/>
                        </a:spcAft>
                        <a:buNone/>
                      </a:pPr>
                      <a:r>
                        <a:rPr lang="en-US" sz="1200" dirty="0">
                          <a:effectLst/>
                        </a:rPr>
                        <a:t>CICD08</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nSpc>
                          <a:spcPct val="115000"/>
                        </a:lnSpc>
                        <a:spcBef>
                          <a:spcPts val="1200"/>
                        </a:spcBef>
                        <a:spcAft>
                          <a:spcPts val="1000"/>
                        </a:spcAft>
                        <a:buNone/>
                      </a:pPr>
                      <a:r>
                        <a:rPr lang="en-US" sz="1200">
                          <a:effectLst/>
                        </a:rPr>
                        <a:t>Change AWS infrastructure configuration - Deploy to new AWS account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nchor="ctr"/>
                </a:tc>
                <a:tc>
                  <a:txBody>
                    <a:bodyPr/>
                    <a:lstStyle/>
                    <a:p>
                      <a:pPr algn="ctr">
                        <a:lnSpc>
                          <a:spcPct val="115000"/>
                        </a:lnSpc>
                        <a:spcBef>
                          <a:spcPts val="1200"/>
                        </a:spcBef>
                        <a:spcAft>
                          <a:spcPts val="1000"/>
                        </a:spcAft>
                        <a:buNone/>
                      </a:pPr>
                      <a:r>
                        <a:rPr lang="en-US" sz="1200" dirty="0">
                          <a:effectLst/>
                        </a:rPr>
                        <a:t>Passed</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2325" marR="42325" marT="0" marB="0"/>
                </a:tc>
                <a:extLst>
                  <a:ext uri="{0D108BD9-81ED-4DB2-BD59-A6C34878D82A}">
                    <a16:rowId xmlns:a16="http://schemas.microsoft.com/office/drawing/2014/main" val="2750517820"/>
                  </a:ext>
                </a:extLst>
              </a:tr>
            </a:tbl>
          </a:graphicData>
        </a:graphic>
      </p:graphicFrame>
    </p:spTree>
    <p:extLst>
      <p:ext uri="{BB962C8B-B14F-4D97-AF65-F5344CB8AC3E}">
        <p14:creationId xmlns:p14="http://schemas.microsoft.com/office/powerpoint/2010/main" val="1391655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A05A7-0C8A-2FE1-78FD-88BB7F4D1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28578-DB71-1BF1-89C0-73E62A7200BF}"/>
              </a:ext>
            </a:extLst>
          </p:cNvPr>
          <p:cNvSpPr>
            <a:spLocks noGrp="1"/>
          </p:cNvSpPr>
          <p:nvPr>
            <p:ph type="title"/>
          </p:nvPr>
        </p:nvSpPr>
        <p:spPr>
          <a:xfrm>
            <a:off x="0" y="0"/>
            <a:ext cx="8596668" cy="1320800"/>
          </a:xfrm>
        </p:spPr>
        <p:txBody>
          <a:bodyPr>
            <a:normAutofit/>
          </a:bodyPr>
          <a:lstStyle/>
          <a:p>
            <a:r>
              <a:rPr lang="en-US" sz="2000" b="1" u="sng" dirty="0"/>
              <a:t>Report 5: </a:t>
            </a:r>
            <a:r>
              <a:rPr lang="en-US" sz="2000" b="1" dirty="0"/>
              <a:t>Consolidated Pipeline Test Report</a:t>
            </a:r>
          </a:p>
        </p:txBody>
      </p:sp>
      <p:sp>
        <p:nvSpPr>
          <p:cNvPr id="3" name="Slide Number Placeholder 2">
            <a:extLst>
              <a:ext uri="{FF2B5EF4-FFF2-40B4-BE49-F238E27FC236}">
                <a16:creationId xmlns:a16="http://schemas.microsoft.com/office/drawing/2014/main" id="{5DF986B4-E9CE-2A01-E752-C17DBA1A7644}"/>
              </a:ext>
            </a:extLst>
          </p:cNvPr>
          <p:cNvSpPr>
            <a:spLocks noGrp="1"/>
          </p:cNvSpPr>
          <p:nvPr>
            <p:ph type="sldNum" sz="quarter" idx="12"/>
          </p:nvPr>
        </p:nvSpPr>
        <p:spPr>
          <a:xfrm>
            <a:off x="4432320" y="6194976"/>
            <a:ext cx="683339" cy="365125"/>
          </a:xfrm>
        </p:spPr>
        <p:txBody>
          <a:bodyPr/>
          <a:lstStyle/>
          <a:p>
            <a:fld id="{4007D543-D9BA-1A48-A5FD-0DD23AC00E9F}" type="slidenum">
              <a:rPr lang="en-US" sz="2400" smtClean="0"/>
              <a:t>20</a:t>
            </a:fld>
            <a:endParaRPr lang="en-US" sz="2400" dirty="0"/>
          </a:p>
        </p:txBody>
      </p:sp>
      <p:pic>
        <p:nvPicPr>
          <p:cNvPr id="6" name="Picture 5">
            <a:extLst>
              <a:ext uri="{FF2B5EF4-FFF2-40B4-BE49-F238E27FC236}">
                <a16:creationId xmlns:a16="http://schemas.microsoft.com/office/drawing/2014/main" id="{C0E85328-1577-8489-23F3-73113F44FD52}"/>
              </a:ext>
            </a:extLst>
          </p:cNvPr>
          <p:cNvPicPr>
            <a:picLocks noChangeAspect="1"/>
          </p:cNvPicPr>
          <p:nvPr/>
        </p:nvPicPr>
        <p:blipFill>
          <a:blip r:embed="rId2"/>
          <a:stretch>
            <a:fillRect/>
          </a:stretch>
        </p:blipFill>
        <p:spPr>
          <a:xfrm>
            <a:off x="2004786" y="537503"/>
            <a:ext cx="8182428" cy="6320497"/>
          </a:xfrm>
          <a:prstGeom prst="rect">
            <a:avLst/>
          </a:prstGeom>
        </p:spPr>
      </p:pic>
    </p:spTree>
    <p:extLst>
      <p:ext uri="{BB962C8B-B14F-4D97-AF65-F5344CB8AC3E}">
        <p14:creationId xmlns:p14="http://schemas.microsoft.com/office/powerpoint/2010/main" val="2187840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64829-994F-E74C-BF63-A3D15BE972E0}"/>
              </a:ext>
            </a:extLst>
          </p:cNvPr>
          <p:cNvSpPr>
            <a:spLocks noGrp="1"/>
          </p:cNvSpPr>
          <p:nvPr>
            <p:ph type="title"/>
          </p:nvPr>
        </p:nvSpPr>
        <p:spPr>
          <a:xfrm>
            <a:off x="0" y="0"/>
            <a:ext cx="8596668" cy="1320800"/>
          </a:xfrm>
        </p:spPr>
        <p:txBody>
          <a:bodyPr>
            <a:normAutofit/>
          </a:bodyPr>
          <a:lstStyle/>
          <a:p>
            <a:r>
              <a:rPr lang="en-US" sz="2000" b="1" u="sng" dirty="0"/>
              <a:t>Report 5: </a:t>
            </a:r>
            <a:r>
              <a:rPr lang="en-US" sz="2000" b="1" dirty="0"/>
              <a:t>AWS Pipeline Automation Test Report</a:t>
            </a:r>
          </a:p>
        </p:txBody>
      </p:sp>
      <p:pic>
        <p:nvPicPr>
          <p:cNvPr id="4" name="Picture 3" descr="A screenshot of a computer&#10;&#10;AI-generated content may be incorrect.">
            <a:extLst>
              <a:ext uri="{FF2B5EF4-FFF2-40B4-BE49-F238E27FC236}">
                <a16:creationId xmlns:a16="http://schemas.microsoft.com/office/drawing/2014/main" id="{D3D9882A-DE08-3F97-37BD-F09EC9790890}"/>
              </a:ext>
            </a:extLst>
          </p:cNvPr>
          <p:cNvPicPr>
            <a:picLocks noChangeAspect="1"/>
          </p:cNvPicPr>
          <p:nvPr/>
        </p:nvPicPr>
        <p:blipFill>
          <a:blip r:embed="rId2"/>
          <a:stretch>
            <a:fillRect/>
          </a:stretch>
        </p:blipFill>
        <p:spPr>
          <a:xfrm>
            <a:off x="0" y="480461"/>
            <a:ext cx="8655152" cy="3876386"/>
          </a:xfrm>
          <a:prstGeom prst="rect">
            <a:avLst/>
          </a:prstGeom>
        </p:spPr>
      </p:pic>
      <p:pic>
        <p:nvPicPr>
          <p:cNvPr id="5" name="Picture 4" descr="A screenshot of a website&#10;&#10;AI-generated content may be incorrect.">
            <a:extLst>
              <a:ext uri="{FF2B5EF4-FFF2-40B4-BE49-F238E27FC236}">
                <a16:creationId xmlns:a16="http://schemas.microsoft.com/office/drawing/2014/main" id="{0949CA7F-5681-280B-4F96-966F7609583B}"/>
              </a:ext>
            </a:extLst>
          </p:cNvPr>
          <p:cNvPicPr>
            <a:picLocks noChangeAspect="1"/>
          </p:cNvPicPr>
          <p:nvPr/>
        </p:nvPicPr>
        <p:blipFill>
          <a:blip r:embed="rId3"/>
          <a:stretch>
            <a:fillRect/>
          </a:stretch>
        </p:blipFill>
        <p:spPr>
          <a:xfrm>
            <a:off x="9877" y="3635586"/>
            <a:ext cx="6277429" cy="3222414"/>
          </a:xfrm>
          <a:prstGeom prst="rect">
            <a:avLst/>
          </a:prstGeom>
        </p:spPr>
      </p:pic>
      <p:sp>
        <p:nvSpPr>
          <p:cNvPr id="3" name="Slide Number Placeholder 2">
            <a:extLst>
              <a:ext uri="{FF2B5EF4-FFF2-40B4-BE49-F238E27FC236}">
                <a16:creationId xmlns:a16="http://schemas.microsoft.com/office/drawing/2014/main" id="{B556CA43-45E5-BEEE-78B0-0F3E80C11DD1}"/>
              </a:ext>
            </a:extLst>
          </p:cNvPr>
          <p:cNvSpPr>
            <a:spLocks noGrp="1"/>
          </p:cNvSpPr>
          <p:nvPr>
            <p:ph type="sldNum" sz="quarter" idx="12"/>
          </p:nvPr>
        </p:nvSpPr>
        <p:spPr>
          <a:xfrm>
            <a:off x="4432320" y="6194976"/>
            <a:ext cx="683339" cy="365125"/>
          </a:xfrm>
        </p:spPr>
        <p:txBody>
          <a:bodyPr/>
          <a:lstStyle/>
          <a:p>
            <a:fld id="{4007D543-D9BA-1A48-A5FD-0DD23AC00E9F}" type="slidenum">
              <a:rPr lang="en-US" sz="2400" smtClean="0"/>
              <a:t>21</a:t>
            </a:fld>
            <a:endParaRPr lang="en-US" sz="2400" dirty="0"/>
          </a:p>
        </p:txBody>
      </p:sp>
      <p:pic>
        <p:nvPicPr>
          <p:cNvPr id="7" name="Picture 6">
            <a:extLst>
              <a:ext uri="{FF2B5EF4-FFF2-40B4-BE49-F238E27FC236}">
                <a16:creationId xmlns:a16="http://schemas.microsoft.com/office/drawing/2014/main" id="{448F1DC2-50B3-B9B2-FEAB-8FD7DE7F2802}"/>
              </a:ext>
            </a:extLst>
          </p:cNvPr>
          <p:cNvPicPr>
            <a:picLocks noChangeAspect="1"/>
          </p:cNvPicPr>
          <p:nvPr/>
        </p:nvPicPr>
        <p:blipFill>
          <a:blip r:embed="rId4"/>
          <a:stretch>
            <a:fillRect/>
          </a:stretch>
        </p:blipFill>
        <p:spPr>
          <a:xfrm>
            <a:off x="5484180" y="2614319"/>
            <a:ext cx="6697943" cy="4243681"/>
          </a:xfrm>
          <a:prstGeom prst="rect">
            <a:avLst/>
          </a:prstGeom>
        </p:spPr>
      </p:pic>
    </p:spTree>
    <p:extLst>
      <p:ext uri="{BB962C8B-B14F-4D97-AF65-F5344CB8AC3E}">
        <p14:creationId xmlns:p14="http://schemas.microsoft.com/office/powerpoint/2010/main" val="2051351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5368-1F40-86B3-DA11-A07D83924C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0417F-6EDB-5503-5411-0F897BD377C4}"/>
              </a:ext>
            </a:extLst>
          </p:cNvPr>
          <p:cNvSpPr>
            <a:spLocks noGrp="1"/>
          </p:cNvSpPr>
          <p:nvPr>
            <p:ph type="title"/>
          </p:nvPr>
        </p:nvSpPr>
        <p:spPr>
          <a:xfrm>
            <a:off x="0" y="0"/>
            <a:ext cx="8596668" cy="1320800"/>
          </a:xfrm>
        </p:spPr>
        <p:txBody>
          <a:bodyPr>
            <a:normAutofit/>
          </a:bodyPr>
          <a:lstStyle/>
          <a:p>
            <a:r>
              <a:rPr lang="en-US" sz="2000" b="1" u="sng" dirty="0"/>
              <a:t>Report 5: </a:t>
            </a:r>
            <a:r>
              <a:rPr lang="en-US" sz="2000" dirty="0"/>
              <a:t>Bug Report Sample</a:t>
            </a:r>
          </a:p>
        </p:txBody>
      </p:sp>
      <p:graphicFrame>
        <p:nvGraphicFramePr>
          <p:cNvPr id="3" name="Table 2">
            <a:extLst>
              <a:ext uri="{FF2B5EF4-FFF2-40B4-BE49-F238E27FC236}">
                <a16:creationId xmlns:a16="http://schemas.microsoft.com/office/drawing/2014/main" id="{AD7B4D62-C472-3CE3-8BD9-2243DC377F82}"/>
              </a:ext>
            </a:extLst>
          </p:cNvPr>
          <p:cNvGraphicFramePr>
            <a:graphicFrameLocks noGrp="1"/>
          </p:cNvGraphicFramePr>
          <p:nvPr>
            <p:extLst>
              <p:ext uri="{D42A27DB-BD31-4B8C-83A1-F6EECF244321}">
                <p14:modId xmlns:p14="http://schemas.microsoft.com/office/powerpoint/2010/main" val="3692051496"/>
              </p:ext>
            </p:extLst>
          </p:nvPr>
        </p:nvGraphicFramePr>
        <p:xfrm>
          <a:off x="356839" y="591015"/>
          <a:ext cx="9757316" cy="5575612"/>
        </p:xfrm>
        <a:graphic>
          <a:graphicData uri="http://schemas.openxmlformats.org/drawingml/2006/table">
            <a:tbl>
              <a:tblPr firstRow="1" firstCol="1" bandRow="1">
                <a:tableStyleId>{5C22544A-7EE6-4342-B048-85BDC9FD1C3A}</a:tableStyleId>
              </a:tblPr>
              <a:tblGrid>
                <a:gridCol w="1439854">
                  <a:extLst>
                    <a:ext uri="{9D8B030D-6E8A-4147-A177-3AD203B41FA5}">
                      <a16:colId xmlns:a16="http://schemas.microsoft.com/office/drawing/2014/main" val="1023722785"/>
                    </a:ext>
                  </a:extLst>
                </a:gridCol>
                <a:gridCol w="1927814">
                  <a:extLst>
                    <a:ext uri="{9D8B030D-6E8A-4147-A177-3AD203B41FA5}">
                      <a16:colId xmlns:a16="http://schemas.microsoft.com/office/drawing/2014/main" val="548405426"/>
                    </a:ext>
                  </a:extLst>
                </a:gridCol>
                <a:gridCol w="6389648">
                  <a:extLst>
                    <a:ext uri="{9D8B030D-6E8A-4147-A177-3AD203B41FA5}">
                      <a16:colId xmlns:a16="http://schemas.microsoft.com/office/drawing/2014/main" val="4159312433"/>
                    </a:ext>
                  </a:extLst>
                </a:gridCol>
              </a:tblGrid>
              <a:tr h="296760">
                <a:tc>
                  <a:txBody>
                    <a:bodyPr/>
                    <a:lstStyle/>
                    <a:p>
                      <a:pPr>
                        <a:lnSpc>
                          <a:spcPct val="115000"/>
                        </a:lnSpc>
                        <a:spcBef>
                          <a:spcPts val="1200"/>
                        </a:spcBef>
                        <a:spcAft>
                          <a:spcPts val="1000"/>
                        </a:spcAft>
                        <a:buNone/>
                      </a:pPr>
                      <a:r>
                        <a:rPr lang="en-US" sz="1100">
                          <a:effectLst/>
                        </a:rPr>
                        <a:t>Category</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Label</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Value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2783541354"/>
                  </a:ext>
                </a:extLst>
              </a:tr>
              <a:tr h="296657">
                <a:tc rowSpan="4">
                  <a:txBody>
                    <a:bodyPr/>
                    <a:lstStyle/>
                    <a:p>
                      <a:pPr>
                        <a:lnSpc>
                          <a:spcPct val="115000"/>
                        </a:lnSpc>
                        <a:spcBef>
                          <a:spcPts val="1200"/>
                        </a:spcBef>
                        <a:spcAft>
                          <a:spcPts val="1000"/>
                        </a:spcAft>
                        <a:buNone/>
                      </a:pPr>
                      <a:r>
                        <a:rPr lang="en-US" sz="1100">
                          <a:effectLst/>
                        </a:rPr>
                        <a:t>BugID</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ID number</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B01</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1253849021"/>
                  </a:ext>
                </a:extLst>
              </a:tr>
              <a:tr h="296657">
                <a:tc vMerge="1">
                  <a:txBody>
                    <a:bodyPr/>
                    <a:lstStyle/>
                    <a:p>
                      <a:endParaRPr lang="en-US"/>
                    </a:p>
                  </a:txBody>
                  <a:tcPr/>
                </a:tc>
                <a:tc>
                  <a:txBody>
                    <a:bodyPr/>
                    <a:lstStyle/>
                    <a:p>
                      <a:pPr>
                        <a:lnSpc>
                          <a:spcPct val="115000"/>
                        </a:lnSpc>
                        <a:spcBef>
                          <a:spcPts val="1200"/>
                        </a:spcBef>
                        <a:spcAft>
                          <a:spcPts val="1000"/>
                        </a:spcAft>
                        <a:buNone/>
                      </a:pPr>
                      <a:r>
                        <a:rPr lang="en-US" sz="1100">
                          <a:effectLst/>
                        </a:rPr>
                        <a:t>Name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Incorrect example for searchbook_available feature file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2409902409"/>
                  </a:ext>
                </a:extLst>
              </a:tr>
              <a:tr h="296657">
                <a:tc vMerge="1">
                  <a:txBody>
                    <a:bodyPr/>
                    <a:lstStyle/>
                    <a:p>
                      <a:endParaRPr lang="en-US"/>
                    </a:p>
                  </a:txBody>
                  <a:tcPr/>
                </a:tc>
                <a:tc>
                  <a:txBody>
                    <a:bodyPr/>
                    <a:lstStyle/>
                    <a:p>
                      <a:pPr>
                        <a:lnSpc>
                          <a:spcPct val="115000"/>
                        </a:lnSpc>
                        <a:spcBef>
                          <a:spcPts val="1200"/>
                        </a:spcBef>
                        <a:spcAft>
                          <a:spcPts val="1000"/>
                        </a:spcAft>
                        <a:buNone/>
                      </a:pPr>
                      <a:r>
                        <a:rPr lang="en-US" sz="1100">
                          <a:effectLst/>
                        </a:rPr>
                        <a:t>Reporter</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Lan Le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2487025653"/>
                  </a:ext>
                </a:extLst>
              </a:tr>
              <a:tr h="296657">
                <a:tc vMerge="1">
                  <a:txBody>
                    <a:bodyPr/>
                    <a:lstStyle/>
                    <a:p>
                      <a:endParaRPr lang="en-US"/>
                    </a:p>
                  </a:txBody>
                  <a:tcPr/>
                </a:tc>
                <a:tc>
                  <a:txBody>
                    <a:bodyPr/>
                    <a:lstStyle/>
                    <a:p>
                      <a:pPr>
                        <a:lnSpc>
                          <a:spcPct val="115000"/>
                        </a:lnSpc>
                        <a:spcBef>
                          <a:spcPts val="1200"/>
                        </a:spcBef>
                        <a:spcAft>
                          <a:spcPts val="1000"/>
                        </a:spcAft>
                        <a:buNone/>
                      </a:pPr>
                      <a:r>
                        <a:rPr lang="en-US" sz="1100">
                          <a:effectLst/>
                        </a:rPr>
                        <a:t>Creation Date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 </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1276563641"/>
                  </a:ext>
                </a:extLst>
              </a:tr>
              <a:tr h="296760">
                <a:tc>
                  <a:txBody>
                    <a:bodyPr/>
                    <a:lstStyle/>
                    <a:p>
                      <a:pPr>
                        <a:lnSpc>
                          <a:spcPct val="115000"/>
                        </a:lnSpc>
                        <a:spcBef>
                          <a:spcPts val="1200"/>
                        </a:spcBef>
                        <a:spcAft>
                          <a:spcPts val="1000"/>
                        </a:spcAft>
                        <a:buNone/>
                      </a:pPr>
                      <a:r>
                        <a:rPr lang="en-US" sz="1100">
                          <a:effectLst/>
                        </a:rPr>
                        <a:t>Overview</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Summary</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Feature file has incorrect search keyword</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3449696150"/>
                  </a:ext>
                </a:extLst>
              </a:tr>
              <a:tr h="349192">
                <a:tc>
                  <a:txBody>
                    <a:bodyPr/>
                    <a:lstStyle/>
                    <a:p>
                      <a:pPr>
                        <a:lnSpc>
                          <a:spcPct val="115000"/>
                        </a:lnSpc>
                        <a:spcBef>
                          <a:spcPts val="1200"/>
                        </a:spcBef>
                        <a:spcAft>
                          <a:spcPts val="1000"/>
                        </a:spcAft>
                        <a:buNone/>
                      </a:pPr>
                      <a:r>
                        <a:rPr lang="en-US" sz="1100">
                          <a:effectLst/>
                        </a:rPr>
                        <a:t>Environment</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dirty="0">
                          <a:effectLst/>
                        </a:rPr>
                        <a:t>Operating system, browser</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dirty="0">
                          <a:effectLst/>
                        </a:rPr>
                        <a:t>Chrome (137.0.7151.119)</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1440963547"/>
                  </a:ext>
                </a:extLst>
              </a:tr>
              <a:tr h="1073016">
                <a:tc rowSpan="3">
                  <a:txBody>
                    <a:bodyPr/>
                    <a:lstStyle/>
                    <a:p>
                      <a:pPr>
                        <a:lnSpc>
                          <a:spcPct val="115000"/>
                        </a:lnSpc>
                        <a:spcBef>
                          <a:spcPts val="1200"/>
                        </a:spcBef>
                        <a:spcAft>
                          <a:spcPts val="1000"/>
                        </a:spcAft>
                        <a:buNone/>
                      </a:pPr>
                      <a:r>
                        <a:rPr lang="en-US" sz="1100" dirty="0">
                          <a:effectLst/>
                        </a:rPr>
                        <a:t>Details</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Steps</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vi-VN" sz="1100">
                          <a:effectLst/>
                        </a:rPr>
                        <a:t>Run the home_search_available.feature</a:t>
                      </a:r>
                      <a:endParaRPr lang="en-US" sz="1000">
                        <a:effectLst/>
                      </a:endParaRPr>
                    </a:p>
                    <a:p>
                      <a:pPr>
                        <a:lnSpc>
                          <a:spcPct val="115000"/>
                        </a:lnSpc>
                        <a:spcBef>
                          <a:spcPts val="1200"/>
                        </a:spcBef>
                        <a:spcAft>
                          <a:spcPts val="1000"/>
                        </a:spcAft>
                        <a:buNone/>
                      </a:pPr>
                      <a:r>
                        <a:rPr lang="vi-VN" sz="1100">
                          <a:effectLst/>
                        </a:rPr>
                        <a:t>Check report</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122745698"/>
                  </a:ext>
                </a:extLst>
              </a:tr>
              <a:tr h="296657">
                <a:tc vMerge="1">
                  <a:txBody>
                    <a:bodyPr/>
                    <a:lstStyle/>
                    <a:p>
                      <a:endParaRPr lang="en-US"/>
                    </a:p>
                  </a:txBody>
                  <a:tcPr/>
                </a:tc>
                <a:tc>
                  <a:txBody>
                    <a:bodyPr/>
                    <a:lstStyle/>
                    <a:p>
                      <a:pPr>
                        <a:lnSpc>
                          <a:spcPct val="115000"/>
                        </a:lnSpc>
                        <a:spcBef>
                          <a:spcPts val="1200"/>
                        </a:spcBef>
                        <a:spcAft>
                          <a:spcPts val="1000"/>
                        </a:spcAft>
                        <a:buNone/>
                      </a:pPr>
                      <a:r>
                        <a:rPr lang="en-US" sz="1100">
                          <a:effectLst/>
                        </a:rPr>
                        <a:t>Actual </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Incorrect test data and test case failed</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4289153935"/>
                  </a:ext>
                </a:extLst>
              </a:tr>
              <a:tr h="296657">
                <a:tc vMerge="1">
                  <a:txBody>
                    <a:bodyPr/>
                    <a:lstStyle/>
                    <a:p>
                      <a:endParaRPr lang="en-US"/>
                    </a:p>
                  </a:txBody>
                  <a:tcPr/>
                </a:tc>
                <a:tc>
                  <a:txBody>
                    <a:bodyPr/>
                    <a:lstStyle/>
                    <a:p>
                      <a:pPr>
                        <a:lnSpc>
                          <a:spcPct val="115000"/>
                        </a:lnSpc>
                        <a:spcBef>
                          <a:spcPts val="1200"/>
                        </a:spcBef>
                        <a:spcAft>
                          <a:spcPts val="1000"/>
                        </a:spcAft>
                        <a:buNone/>
                      </a:pPr>
                      <a:r>
                        <a:rPr lang="en-US" sz="1100">
                          <a:effectLst/>
                        </a:rPr>
                        <a:t>Expectation</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Correct test data and test case passed</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4138929182"/>
                  </a:ext>
                </a:extLst>
              </a:tr>
              <a:tr h="296657">
                <a:tc rowSpan="6">
                  <a:txBody>
                    <a:bodyPr/>
                    <a:lstStyle/>
                    <a:p>
                      <a:pPr>
                        <a:lnSpc>
                          <a:spcPct val="115000"/>
                        </a:lnSpc>
                        <a:spcBef>
                          <a:spcPts val="1200"/>
                        </a:spcBef>
                        <a:spcAft>
                          <a:spcPts val="1000"/>
                        </a:spcAft>
                        <a:buNone/>
                      </a:pPr>
                      <a:r>
                        <a:rPr lang="en-US" sz="1100" dirty="0">
                          <a:effectLst/>
                        </a:rPr>
                        <a:t>Tracking </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Severity</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vi-VN" sz="1100">
                          <a:effectLst/>
                        </a:rPr>
                        <a:t>Medium</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3235297922"/>
                  </a:ext>
                </a:extLst>
              </a:tr>
              <a:tr h="296657">
                <a:tc vMerge="1">
                  <a:txBody>
                    <a:bodyPr/>
                    <a:lstStyle/>
                    <a:p>
                      <a:endParaRPr lang="en-US"/>
                    </a:p>
                  </a:txBody>
                  <a:tcPr/>
                </a:tc>
                <a:tc>
                  <a:txBody>
                    <a:bodyPr/>
                    <a:lstStyle/>
                    <a:p>
                      <a:pPr>
                        <a:lnSpc>
                          <a:spcPct val="115000"/>
                        </a:lnSpc>
                        <a:spcBef>
                          <a:spcPts val="1200"/>
                        </a:spcBef>
                        <a:spcAft>
                          <a:spcPts val="1000"/>
                        </a:spcAft>
                        <a:buNone/>
                      </a:pPr>
                      <a:r>
                        <a:rPr lang="en-US" sz="1100">
                          <a:effectLst/>
                        </a:rPr>
                        <a:t>Priority</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vi-VN" sz="1100">
                          <a:effectLst/>
                        </a:rPr>
                        <a:t>3</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3087220743"/>
                  </a:ext>
                </a:extLst>
              </a:tr>
              <a:tr h="296657">
                <a:tc vMerge="1">
                  <a:txBody>
                    <a:bodyPr/>
                    <a:lstStyle/>
                    <a:p>
                      <a:endParaRPr lang="en-US"/>
                    </a:p>
                  </a:txBody>
                  <a:tcPr/>
                </a:tc>
                <a:tc>
                  <a:txBody>
                    <a:bodyPr/>
                    <a:lstStyle/>
                    <a:p>
                      <a:pPr>
                        <a:lnSpc>
                          <a:spcPct val="115000"/>
                        </a:lnSpc>
                        <a:spcBef>
                          <a:spcPts val="1200"/>
                        </a:spcBef>
                        <a:spcAft>
                          <a:spcPts val="1000"/>
                        </a:spcAft>
                        <a:buNone/>
                      </a:pPr>
                      <a:r>
                        <a:rPr lang="en-US" sz="1100">
                          <a:effectLst/>
                        </a:rPr>
                        <a:t>Assigned To</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vi-VN" sz="1100">
                          <a:effectLst/>
                        </a:rPr>
                        <a:t>Lan Le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2517830264"/>
                  </a:ext>
                </a:extLst>
              </a:tr>
              <a:tr h="296657">
                <a:tc vMerge="1">
                  <a:txBody>
                    <a:bodyPr/>
                    <a:lstStyle/>
                    <a:p>
                      <a:endParaRPr lang="en-US"/>
                    </a:p>
                  </a:txBody>
                  <a:tcPr/>
                </a:tc>
                <a:tc>
                  <a:txBody>
                    <a:bodyPr/>
                    <a:lstStyle/>
                    <a:p>
                      <a:pPr>
                        <a:lnSpc>
                          <a:spcPct val="115000"/>
                        </a:lnSpc>
                        <a:spcBef>
                          <a:spcPts val="1200"/>
                        </a:spcBef>
                        <a:spcAft>
                          <a:spcPts val="1000"/>
                        </a:spcAft>
                        <a:buNone/>
                      </a:pPr>
                      <a:r>
                        <a:rPr lang="en-US" sz="1100">
                          <a:effectLst/>
                        </a:rPr>
                        <a:t>Status</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Closed</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926188843"/>
                  </a:ext>
                </a:extLst>
              </a:tr>
              <a:tr h="296657">
                <a:tc vMerge="1">
                  <a:txBody>
                    <a:bodyPr/>
                    <a:lstStyle/>
                    <a:p>
                      <a:endParaRPr lang="en-US"/>
                    </a:p>
                  </a:txBody>
                  <a:tcPr/>
                </a:tc>
                <a:tc>
                  <a:txBody>
                    <a:bodyPr/>
                    <a:lstStyle/>
                    <a:p>
                      <a:pPr>
                        <a:lnSpc>
                          <a:spcPct val="115000"/>
                        </a:lnSpc>
                        <a:spcBef>
                          <a:spcPts val="1200"/>
                        </a:spcBef>
                        <a:spcAft>
                          <a:spcPts val="1000"/>
                        </a:spcAft>
                        <a:buNone/>
                      </a:pPr>
                      <a:r>
                        <a:rPr lang="en-US" sz="1100">
                          <a:effectLst/>
                        </a:rPr>
                        <a:t>Resolution </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a:effectLst/>
                        </a:rPr>
                        <a:t>Fixed</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1789348384"/>
                  </a:ext>
                </a:extLst>
              </a:tr>
              <a:tr h="296657">
                <a:tc vMerge="1">
                  <a:txBody>
                    <a:bodyPr/>
                    <a:lstStyle/>
                    <a:p>
                      <a:endParaRPr lang="en-US"/>
                    </a:p>
                  </a:txBody>
                  <a:tcPr/>
                </a:tc>
                <a:tc>
                  <a:txBody>
                    <a:bodyPr/>
                    <a:lstStyle/>
                    <a:p>
                      <a:pPr>
                        <a:lnSpc>
                          <a:spcPct val="115000"/>
                        </a:lnSpc>
                        <a:spcBef>
                          <a:spcPts val="1200"/>
                        </a:spcBef>
                        <a:spcAft>
                          <a:spcPts val="1000"/>
                        </a:spcAft>
                        <a:buNone/>
                      </a:pPr>
                      <a:r>
                        <a:rPr lang="en-US" sz="1100">
                          <a:effectLst/>
                        </a:rPr>
                        <a:t>Resolution Details</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tc>
                  <a:txBody>
                    <a:bodyPr/>
                    <a:lstStyle/>
                    <a:p>
                      <a:pPr>
                        <a:lnSpc>
                          <a:spcPct val="115000"/>
                        </a:lnSpc>
                        <a:spcBef>
                          <a:spcPts val="1200"/>
                        </a:spcBef>
                        <a:spcAft>
                          <a:spcPts val="1000"/>
                        </a:spcAft>
                        <a:buNone/>
                      </a:pPr>
                      <a:r>
                        <a:rPr lang="en-US" sz="1100" dirty="0">
                          <a:effectLst/>
                        </a:rPr>
                        <a:t>Fix the text for feature file to available result</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86" marR="60486" marT="0" marB="0"/>
                </a:tc>
                <a:extLst>
                  <a:ext uri="{0D108BD9-81ED-4DB2-BD59-A6C34878D82A}">
                    <a16:rowId xmlns:a16="http://schemas.microsoft.com/office/drawing/2014/main" val="1810583151"/>
                  </a:ext>
                </a:extLst>
              </a:tr>
            </a:tbl>
          </a:graphicData>
        </a:graphic>
      </p:graphicFrame>
      <p:sp>
        <p:nvSpPr>
          <p:cNvPr id="4" name="Slide Number Placeholder 3">
            <a:extLst>
              <a:ext uri="{FF2B5EF4-FFF2-40B4-BE49-F238E27FC236}">
                <a16:creationId xmlns:a16="http://schemas.microsoft.com/office/drawing/2014/main" id="{3C86DA1F-8282-C951-7A90-E0E281D2754C}"/>
              </a:ext>
            </a:extLst>
          </p:cNvPr>
          <p:cNvSpPr>
            <a:spLocks noGrp="1"/>
          </p:cNvSpPr>
          <p:nvPr>
            <p:ph type="sldNum" sz="quarter" idx="12"/>
          </p:nvPr>
        </p:nvSpPr>
        <p:spPr>
          <a:xfrm>
            <a:off x="8468000" y="6392517"/>
            <a:ext cx="683339" cy="365125"/>
          </a:xfrm>
        </p:spPr>
        <p:txBody>
          <a:bodyPr/>
          <a:lstStyle/>
          <a:p>
            <a:fld id="{4007D543-D9BA-1A48-A5FD-0DD23AC00E9F}" type="slidenum">
              <a:rPr lang="en-US" sz="2400" smtClean="0"/>
              <a:t>22</a:t>
            </a:fld>
            <a:endParaRPr lang="en-US" sz="2400" dirty="0"/>
          </a:p>
        </p:txBody>
      </p:sp>
    </p:spTree>
    <p:extLst>
      <p:ext uri="{BB962C8B-B14F-4D97-AF65-F5344CB8AC3E}">
        <p14:creationId xmlns:p14="http://schemas.microsoft.com/office/powerpoint/2010/main" val="3762208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422AA-A03C-2D5F-5123-0468EA0A5AEA}"/>
              </a:ext>
            </a:extLst>
          </p:cNvPr>
          <p:cNvSpPr>
            <a:spLocks noGrp="1"/>
          </p:cNvSpPr>
          <p:nvPr>
            <p:ph type="title"/>
          </p:nvPr>
        </p:nvSpPr>
        <p:spPr>
          <a:xfrm>
            <a:off x="0" y="0"/>
            <a:ext cx="8596668" cy="1320800"/>
          </a:xfrm>
        </p:spPr>
        <p:txBody>
          <a:bodyPr/>
          <a:lstStyle/>
          <a:p>
            <a:r>
              <a:rPr lang="en-US" dirty="0"/>
              <a:t>Demo </a:t>
            </a:r>
          </a:p>
        </p:txBody>
      </p:sp>
      <p:sp>
        <p:nvSpPr>
          <p:cNvPr id="3" name="Content Placeholder 2">
            <a:extLst>
              <a:ext uri="{FF2B5EF4-FFF2-40B4-BE49-F238E27FC236}">
                <a16:creationId xmlns:a16="http://schemas.microsoft.com/office/drawing/2014/main" id="{4450B49D-F733-5183-EBB3-83321BCA7445}"/>
              </a:ext>
            </a:extLst>
          </p:cNvPr>
          <p:cNvSpPr>
            <a:spLocks noGrp="1"/>
          </p:cNvSpPr>
          <p:nvPr>
            <p:ph idx="1"/>
          </p:nvPr>
        </p:nvSpPr>
        <p:spPr>
          <a:xfrm>
            <a:off x="164377" y="822660"/>
            <a:ext cx="6207056" cy="5901525"/>
          </a:xfrm>
        </p:spPr>
        <p:txBody>
          <a:bodyPr/>
          <a:lstStyle/>
          <a:p>
            <a:pPr marL="0" indent="0">
              <a:buNone/>
            </a:pPr>
            <a:r>
              <a:rPr lang="en-US" dirty="0"/>
              <a:t>- CI/CD use case (change application codes - login)</a:t>
            </a:r>
          </a:p>
          <a:p>
            <a:pPr>
              <a:buFontTx/>
              <a:buChar char="-"/>
            </a:pPr>
            <a:r>
              <a:rPr lang="en-US" dirty="0"/>
              <a:t>CI/CD use case (change automation testing codes – home search no results)</a:t>
            </a:r>
          </a:p>
          <a:p>
            <a:pPr>
              <a:buFontTx/>
              <a:buChar char="-"/>
            </a:pPr>
            <a:r>
              <a:rPr lang="en-US" dirty="0"/>
              <a:t>CI/CD use case (manual approval to deploy to production environment)</a:t>
            </a:r>
          </a:p>
          <a:p>
            <a:pPr>
              <a:buFontTx/>
              <a:buChar char="-"/>
            </a:pPr>
            <a:r>
              <a:rPr lang="en-US" dirty="0"/>
              <a:t>Automation use case (search)</a:t>
            </a:r>
          </a:p>
          <a:p>
            <a:pPr>
              <a:buFontTx/>
              <a:buChar char="-"/>
            </a:pPr>
            <a:r>
              <a:rPr lang="en-US" dirty="0"/>
              <a:t>Automation use case (checkout and view order details)</a:t>
            </a:r>
          </a:p>
          <a:p>
            <a:pPr>
              <a:buFontTx/>
              <a:buChar char="-"/>
            </a:pPr>
            <a:r>
              <a:rPr lang="en-US" dirty="0"/>
              <a:t>Automation use case (admin logs in and add new book)</a:t>
            </a:r>
          </a:p>
          <a:p>
            <a:pPr>
              <a:buFontTx/>
              <a:buChar char="-"/>
            </a:pPr>
            <a:r>
              <a:rPr lang="en-US" dirty="0"/>
              <a:t>Automation use case (admin add edit and delete book)</a:t>
            </a:r>
          </a:p>
        </p:txBody>
      </p:sp>
      <p:pic>
        <p:nvPicPr>
          <p:cNvPr id="4" name="Picture 3">
            <a:extLst>
              <a:ext uri="{FF2B5EF4-FFF2-40B4-BE49-F238E27FC236}">
                <a16:creationId xmlns:a16="http://schemas.microsoft.com/office/drawing/2014/main" id="{97E4130D-8A8E-204F-715D-80EB5F0FAD31}"/>
              </a:ext>
            </a:extLst>
          </p:cNvPr>
          <p:cNvPicPr>
            <a:picLocks noChangeAspect="1"/>
          </p:cNvPicPr>
          <p:nvPr/>
        </p:nvPicPr>
        <p:blipFill>
          <a:blip r:embed="rId2"/>
          <a:stretch>
            <a:fillRect/>
          </a:stretch>
        </p:blipFill>
        <p:spPr>
          <a:xfrm>
            <a:off x="6371433" y="2420156"/>
            <a:ext cx="5805138" cy="4460995"/>
          </a:xfrm>
          <a:prstGeom prst="rect">
            <a:avLst/>
          </a:prstGeom>
        </p:spPr>
      </p:pic>
      <p:sp>
        <p:nvSpPr>
          <p:cNvPr id="5" name="Slide Number Placeholder 4">
            <a:extLst>
              <a:ext uri="{FF2B5EF4-FFF2-40B4-BE49-F238E27FC236}">
                <a16:creationId xmlns:a16="http://schemas.microsoft.com/office/drawing/2014/main" id="{9F597B6A-3250-0F9D-68C2-55AE5DEC977A}"/>
              </a:ext>
            </a:extLst>
          </p:cNvPr>
          <p:cNvSpPr>
            <a:spLocks noGrp="1"/>
          </p:cNvSpPr>
          <p:nvPr>
            <p:ph type="sldNum" sz="quarter" idx="12"/>
          </p:nvPr>
        </p:nvSpPr>
        <p:spPr/>
        <p:txBody>
          <a:bodyPr/>
          <a:lstStyle/>
          <a:p>
            <a:fld id="{4007D543-D9BA-1A48-A5FD-0DD23AC00E9F}" type="slidenum">
              <a:rPr lang="en-US" sz="2400" smtClean="0"/>
              <a:t>23</a:t>
            </a:fld>
            <a:endParaRPr lang="en-US" sz="2400" dirty="0"/>
          </a:p>
        </p:txBody>
      </p:sp>
    </p:spTree>
    <p:extLst>
      <p:ext uri="{BB962C8B-B14F-4D97-AF65-F5344CB8AC3E}">
        <p14:creationId xmlns:p14="http://schemas.microsoft.com/office/powerpoint/2010/main" val="11247934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12054</TotalTime>
  <Words>1736</Words>
  <Application>Microsoft Macintosh PowerPoint</Application>
  <PresentationFormat>Widescreen</PresentationFormat>
  <Paragraphs>359</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Trebuchet MS</vt:lpstr>
      <vt:lpstr>Wingdings 3</vt:lpstr>
      <vt:lpstr>Facet</vt:lpstr>
      <vt:lpstr>Automation System Testing using Selenium Cucumber and AWS CI/CD Implementation </vt:lpstr>
      <vt:lpstr>Contents</vt:lpstr>
      <vt:lpstr>Report 1: Inspiration and comparison      </vt:lpstr>
      <vt:lpstr>Report 1: Introduction </vt:lpstr>
      <vt:lpstr>PowerPoint Presentation</vt:lpstr>
      <vt:lpstr>Report 2: Critical Dependencies and risks </vt:lpstr>
      <vt:lpstr>Report 2: Software Development model </vt:lpstr>
      <vt:lpstr>Report 2: Project Milestones and deliverables</vt:lpstr>
      <vt:lpstr>Report 2: Project Scope</vt:lpstr>
      <vt:lpstr>Report 3: Software Specific Requirements (CI/CD requirement example)</vt:lpstr>
      <vt:lpstr>Report 3: Software Specific Requirements – Automation test case list</vt:lpstr>
      <vt:lpstr>Report 3: Software Specific Requirements – Automation test case example</vt:lpstr>
      <vt:lpstr>Report 4: Component Diagram (AWS)</vt:lpstr>
      <vt:lpstr>Report 4:  Component Diagram  (Selenium Cucumber)</vt:lpstr>
      <vt:lpstr>Report 4 Sequence Diagram  (Selenium Cucumber)</vt:lpstr>
      <vt:lpstr>Report 4: Sequence Diagram (AWS)</vt:lpstr>
      <vt:lpstr>Report 4: AWS detailed resource diagram</vt:lpstr>
      <vt:lpstr>Report 5: Test Strategy and acceptance criteria</vt:lpstr>
      <vt:lpstr>Report 5: Test Case List – Detailed Test Case</vt:lpstr>
      <vt:lpstr>Report 5: Consolidated Pipeline Test Report</vt:lpstr>
      <vt:lpstr>Report 5: AWS Pipeline Automation Test Report</vt:lpstr>
      <vt:lpstr>Report 5: Bug Report Sample</vt:lpstr>
      <vt:lpstr>Demo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Lan Le</dc:creator>
  <cp:lastModifiedBy>Lan Le</cp:lastModifiedBy>
  <cp:revision>83</cp:revision>
  <dcterms:created xsi:type="dcterms:W3CDTF">2025-07-14T21:38:25Z</dcterms:created>
  <dcterms:modified xsi:type="dcterms:W3CDTF">2025-07-30T00:48:02Z</dcterms:modified>
</cp:coreProperties>
</file>